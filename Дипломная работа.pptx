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94F67D-617B-4363-9623-74B7BE6EB9BF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5E82860-4AB7-4135-9FCF-21C80AD95F9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В </a:t>
          </a:r>
          <a:r>
            <a:rPr lang="en-US" dirty="0" err="1"/>
            <a:t>современном</a:t>
          </a:r>
          <a:r>
            <a:rPr lang="en-US" dirty="0"/>
            <a:t> </a:t>
          </a:r>
          <a:r>
            <a:rPr lang="en-US" dirty="0" err="1"/>
            <a:t>мире</a:t>
          </a:r>
          <a:r>
            <a:rPr lang="en-US" dirty="0"/>
            <a:t> </a:t>
          </a:r>
          <a:r>
            <a:rPr lang="en-US" dirty="0" err="1"/>
            <a:t>информационные</a:t>
          </a:r>
          <a:r>
            <a:rPr lang="en-US" dirty="0"/>
            <a:t> </a:t>
          </a:r>
          <a:r>
            <a:rPr lang="en-US" dirty="0" err="1"/>
            <a:t>технологии</a:t>
          </a:r>
          <a:r>
            <a:rPr lang="en-US" dirty="0"/>
            <a:t> </a:t>
          </a:r>
          <a:r>
            <a:rPr lang="en-US" dirty="0" err="1"/>
            <a:t>занимают</a:t>
          </a:r>
          <a:r>
            <a:rPr lang="en-US" dirty="0"/>
            <a:t> </a:t>
          </a:r>
          <a:r>
            <a:rPr lang="en-US" dirty="0" err="1"/>
            <a:t>ключевое</a:t>
          </a:r>
          <a:r>
            <a:rPr lang="en-US" dirty="0"/>
            <a:t> </a:t>
          </a:r>
          <a:r>
            <a:rPr lang="en-US" dirty="0" err="1"/>
            <a:t>место</a:t>
          </a:r>
          <a:r>
            <a:rPr lang="en-US" dirty="0"/>
            <a:t> в </a:t>
          </a:r>
          <a:r>
            <a:rPr lang="en-US" dirty="0" err="1"/>
            <a:t>деятельности</a:t>
          </a:r>
          <a:r>
            <a:rPr lang="en-US" dirty="0"/>
            <a:t> </a:t>
          </a:r>
          <a:r>
            <a:rPr lang="en-US" dirty="0" err="1"/>
            <a:t>практически</a:t>
          </a:r>
          <a:r>
            <a:rPr lang="en-US" dirty="0"/>
            <a:t> </a:t>
          </a:r>
          <a:r>
            <a:rPr lang="en-US" dirty="0" err="1"/>
            <a:t>любой</a:t>
          </a:r>
          <a:r>
            <a:rPr lang="en-US" dirty="0"/>
            <a:t> </a:t>
          </a:r>
          <a:r>
            <a:rPr lang="en-US" dirty="0" err="1"/>
            <a:t>организации</a:t>
          </a:r>
          <a:r>
            <a:rPr lang="en-US" dirty="0"/>
            <a:t>. </a:t>
          </a:r>
        </a:p>
      </dgm:t>
    </dgm:pt>
    <dgm:pt modelId="{5349EC94-C61F-4C8E-8F3E-75DCF77F25A4}" type="parTrans" cxnId="{3A6DAD27-8975-4A63-94BC-94D1B6B7CECE}">
      <dgm:prSet/>
      <dgm:spPr/>
      <dgm:t>
        <a:bodyPr/>
        <a:lstStyle/>
        <a:p>
          <a:endParaRPr lang="en-US"/>
        </a:p>
      </dgm:t>
    </dgm:pt>
    <dgm:pt modelId="{05494F5D-5623-4DB6-A0D1-6E5C33A2B7AD}" type="sibTrans" cxnId="{3A6DAD27-8975-4A63-94BC-94D1B6B7CEC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0289ED0-AFC1-40FF-AF04-EF9D7A5BE39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В результате внедрения информационных технологий повышается эффективность работы предприятий, улучшается качество обслуживания клиентов и снижаются временные затраты на выполнение различных операций.</a:t>
          </a:r>
        </a:p>
      </dgm:t>
    </dgm:pt>
    <dgm:pt modelId="{93BFAD9C-3AF5-4959-83F6-289CC6994176}" type="parTrans" cxnId="{F9F0D213-39A7-450C-B7E1-08A9AA0855B8}">
      <dgm:prSet/>
      <dgm:spPr/>
      <dgm:t>
        <a:bodyPr/>
        <a:lstStyle/>
        <a:p>
          <a:endParaRPr lang="en-US"/>
        </a:p>
      </dgm:t>
    </dgm:pt>
    <dgm:pt modelId="{D8CB0611-2215-4FC2-90C2-2DA73F591032}" type="sibTrans" cxnId="{F9F0D213-39A7-450C-B7E1-08A9AA0855B8}">
      <dgm:prSet/>
      <dgm:spPr/>
      <dgm:t>
        <a:bodyPr/>
        <a:lstStyle/>
        <a:p>
          <a:endParaRPr lang="en-US"/>
        </a:p>
      </dgm:t>
    </dgm:pt>
    <dgm:pt modelId="{F49C6829-BE9C-4D86-9681-EE94FFA96386}" type="pres">
      <dgm:prSet presAssocID="{1294F67D-617B-4363-9623-74B7BE6EB9BF}" presName="root" presStyleCnt="0">
        <dgm:presLayoutVars>
          <dgm:dir/>
          <dgm:resizeHandles val="exact"/>
        </dgm:presLayoutVars>
      </dgm:prSet>
      <dgm:spPr/>
    </dgm:pt>
    <dgm:pt modelId="{E56C5D94-662F-45BA-B63C-CD94DBE94716}" type="pres">
      <dgm:prSet presAssocID="{1294F67D-617B-4363-9623-74B7BE6EB9BF}" presName="container" presStyleCnt="0">
        <dgm:presLayoutVars>
          <dgm:dir/>
          <dgm:resizeHandles val="exact"/>
        </dgm:presLayoutVars>
      </dgm:prSet>
      <dgm:spPr/>
    </dgm:pt>
    <dgm:pt modelId="{E5486488-712C-4F65-B389-97525DAEC649}" type="pres">
      <dgm:prSet presAssocID="{85E82860-4AB7-4135-9FCF-21C80AD95F9F}" presName="compNode" presStyleCnt="0"/>
      <dgm:spPr/>
    </dgm:pt>
    <dgm:pt modelId="{4EBE6F93-EF74-4973-BBA7-3FFB57292192}" type="pres">
      <dgm:prSet presAssocID="{85E82860-4AB7-4135-9FCF-21C80AD95F9F}" presName="iconBgRect" presStyleLbl="bgShp" presStyleIdx="0" presStyleCnt="2"/>
      <dgm:spPr/>
    </dgm:pt>
    <dgm:pt modelId="{3E426CAD-5EAB-4A44-A597-D50086DCB1AA}" type="pres">
      <dgm:prSet presAssocID="{85E82860-4AB7-4135-9FCF-21C80AD95F9F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9155EEA9-B4C5-4C46-8CF1-1C80E1AD4577}" type="pres">
      <dgm:prSet presAssocID="{85E82860-4AB7-4135-9FCF-21C80AD95F9F}" presName="spaceRect" presStyleCnt="0"/>
      <dgm:spPr/>
    </dgm:pt>
    <dgm:pt modelId="{78C6275F-9AE9-423A-A217-E3E2EE724D24}" type="pres">
      <dgm:prSet presAssocID="{85E82860-4AB7-4135-9FCF-21C80AD95F9F}" presName="textRect" presStyleLbl="revTx" presStyleIdx="0" presStyleCnt="2" custLinFactNeighborX="-932">
        <dgm:presLayoutVars>
          <dgm:chMax val="1"/>
          <dgm:chPref val="1"/>
        </dgm:presLayoutVars>
      </dgm:prSet>
      <dgm:spPr/>
    </dgm:pt>
    <dgm:pt modelId="{C516EAE6-BE9B-412E-8C87-326DC16B2AA0}" type="pres">
      <dgm:prSet presAssocID="{05494F5D-5623-4DB6-A0D1-6E5C33A2B7AD}" presName="sibTrans" presStyleLbl="sibTrans2D1" presStyleIdx="0" presStyleCnt="0"/>
      <dgm:spPr/>
    </dgm:pt>
    <dgm:pt modelId="{D48006AD-0BBB-411F-973A-E2599E73AE49}" type="pres">
      <dgm:prSet presAssocID="{F0289ED0-AFC1-40FF-AF04-EF9D7A5BE397}" presName="compNode" presStyleCnt="0"/>
      <dgm:spPr/>
    </dgm:pt>
    <dgm:pt modelId="{4E475AD8-2CA1-4359-AA88-0371DF837B1A}" type="pres">
      <dgm:prSet presAssocID="{F0289ED0-AFC1-40FF-AF04-EF9D7A5BE397}" presName="iconBgRect" presStyleLbl="bgShp" presStyleIdx="1" presStyleCnt="2"/>
      <dgm:spPr/>
    </dgm:pt>
    <dgm:pt modelId="{6C734FC5-2BF1-49F9-9D3D-ADE5CBE155DD}" type="pres">
      <dgm:prSet presAssocID="{F0289ED0-AFC1-40FF-AF04-EF9D7A5BE397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Флажок"/>
        </a:ext>
      </dgm:extLst>
    </dgm:pt>
    <dgm:pt modelId="{57237F01-853C-4B27-A69A-065E6C6AA17F}" type="pres">
      <dgm:prSet presAssocID="{F0289ED0-AFC1-40FF-AF04-EF9D7A5BE397}" presName="spaceRect" presStyleCnt="0"/>
      <dgm:spPr/>
    </dgm:pt>
    <dgm:pt modelId="{4F8DD8DA-D777-44BE-A1B3-5A027E2704BA}" type="pres">
      <dgm:prSet presAssocID="{F0289ED0-AFC1-40FF-AF04-EF9D7A5BE397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F9F0D213-39A7-450C-B7E1-08A9AA0855B8}" srcId="{1294F67D-617B-4363-9623-74B7BE6EB9BF}" destId="{F0289ED0-AFC1-40FF-AF04-EF9D7A5BE397}" srcOrd="1" destOrd="0" parTransId="{93BFAD9C-3AF5-4959-83F6-289CC6994176}" sibTransId="{D8CB0611-2215-4FC2-90C2-2DA73F591032}"/>
    <dgm:cxn modelId="{3A6DAD27-8975-4A63-94BC-94D1B6B7CECE}" srcId="{1294F67D-617B-4363-9623-74B7BE6EB9BF}" destId="{85E82860-4AB7-4135-9FCF-21C80AD95F9F}" srcOrd="0" destOrd="0" parTransId="{5349EC94-C61F-4C8E-8F3E-75DCF77F25A4}" sibTransId="{05494F5D-5623-4DB6-A0D1-6E5C33A2B7AD}"/>
    <dgm:cxn modelId="{E06DC72F-64DD-429C-BAD3-E459C05613FA}" type="presOf" srcId="{05494F5D-5623-4DB6-A0D1-6E5C33A2B7AD}" destId="{C516EAE6-BE9B-412E-8C87-326DC16B2AA0}" srcOrd="0" destOrd="0" presId="urn:microsoft.com/office/officeart/2018/2/layout/IconCircleList"/>
    <dgm:cxn modelId="{2A358D84-A18D-4F85-B6FF-67A1E91C5A53}" type="presOf" srcId="{85E82860-4AB7-4135-9FCF-21C80AD95F9F}" destId="{78C6275F-9AE9-423A-A217-E3E2EE724D24}" srcOrd="0" destOrd="0" presId="urn:microsoft.com/office/officeart/2018/2/layout/IconCircleList"/>
    <dgm:cxn modelId="{D179A6AD-3F2D-46E8-8A32-D3625C54F43E}" type="presOf" srcId="{F0289ED0-AFC1-40FF-AF04-EF9D7A5BE397}" destId="{4F8DD8DA-D777-44BE-A1B3-5A027E2704BA}" srcOrd="0" destOrd="0" presId="urn:microsoft.com/office/officeart/2018/2/layout/IconCircleList"/>
    <dgm:cxn modelId="{7817F4C7-3568-490E-921F-41B6B19031C5}" type="presOf" srcId="{1294F67D-617B-4363-9623-74B7BE6EB9BF}" destId="{F49C6829-BE9C-4D86-9681-EE94FFA96386}" srcOrd="0" destOrd="0" presId="urn:microsoft.com/office/officeart/2018/2/layout/IconCircleList"/>
    <dgm:cxn modelId="{533F3601-99F0-44A6-AC76-A91258356FB2}" type="presParOf" srcId="{F49C6829-BE9C-4D86-9681-EE94FFA96386}" destId="{E56C5D94-662F-45BA-B63C-CD94DBE94716}" srcOrd="0" destOrd="0" presId="urn:microsoft.com/office/officeart/2018/2/layout/IconCircleList"/>
    <dgm:cxn modelId="{2D7DF579-5F2F-4459-91DB-F478629F1C62}" type="presParOf" srcId="{E56C5D94-662F-45BA-B63C-CD94DBE94716}" destId="{E5486488-712C-4F65-B389-97525DAEC649}" srcOrd="0" destOrd="0" presId="urn:microsoft.com/office/officeart/2018/2/layout/IconCircleList"/>
    <dgm:cxn modelId="{4ECFCC5D-B3B7-4782-AFCE-EEC3A8B4C03C}" type="presParOf" srcId="{E5486488-712C-4F65-B389-97525DAEC649}" destId="{4EBE6F93-EF74-4973-BBA7-3FFB57292192}" srcOrd="0" destOrd="0" presId="urn:microsoft.com/office/officeart/2018/2/layout/IconCircleList"/>
    <dgm:cxn modelId="{084510A9-4790-4ECA-AD80-4882485F42B5}" type="presParOf" srcId="{E5486488-712C-4F65-B389-97525DAEC649}" destId="{3E426CAD-5EAB-4A44-A597-D50086DCB1AA}" srcOrd="1" destOrd="0" presId="urn:microsoft.com/office/officeart/2018/2/layout/IconCircleList"/>
    <dgm:cxn modelId="{B1F2A6CE-6C68-4616-8D52-80A98BFC06AE}" type="presParOf" srcId="{E5486488-712C-4F65-B389-97525DAEC649}" destId="{9155EEA9-B4C5-4C46-8CF1-1C80E1AD4577}" srcOrd="2" destOrd="0" presId="urn:microsoft.com/office/officeart/2018/2/layout/IconCircleList"/>
    <dgm:cxn modelId="{91BF0E6F-6F44-4B73-A030-A09D0F35CC5E}" type="presParOf" srcId="{E5486488-712C-4F65-B389-97525DAEC649}" destId="{78C6275F-9AE9-423A-A217-E3E2EE724D24}" srcOrd="3" destOrd="0" presId="urn:microsoft.com/office/officeart/2018/2/layout/IconCircleList"/>
    <dgm:cxn modelId="{842B158B-1F32-4AC1-ACF6-3DD5327802CF}" type="presParOf" srcId="{E56C5D94-662F-45BA-B63C-CD94DBE94716}" destId="{C516EAE6-BE9B-412E-8C87-326DC16B2AA0}" srcOrd="1" destOrd="0" presId="urn:microsoft.com/office/officeart/2018/2/layout/IconCircleList"/>
    <dgm:cxn modelId="{E6656CE3-A6D3-48CF-A815-0337C1A0A1EB}" type="presParOf" srcId="{E56C5D94-662F-45BA-B63C-CD94DBE94716}" destId="{D48006AD-0BBB-411F-973A-E2599E73AE49}" srcOrd="2" destOrd="0" presId="urn:microsoft.com/office/officeart/2018/2/layout/IconCircleList"/>
    <dgm:cxn modelId="{C12DD22E-9721-4E9D-A552-2FFA64FFFFD7}" type="presParOf" srcId="{D48006AD-0BBB-411F-973A-E2599E73AE49}" destId="{4E475AD8-2CA1-4359-AA88-0371DF837B1A}" srcOrd="0" destOrd="0" presId="urn:microsoft.com/office/officeart/2018/2/layout/IconCircleList"/>
    <dgm:cxn modelId="{3F48EDD6-FDAC-4866-AAB3-EF044081F925}" type="presParOf" srcId="{D48006AD-0BBB-411F-973A-E2599E73AE49}" destId="{6C734FC5-2BF1-49F9-9D3D-ADE5CBE155DD}" srcOrd="1" destOrd="0" presId="urn:microsoft.com/office/officeart/2018/2/layout/IconCircleList"/>
    <dgm:cxn modelId="{E6039C2E-1DD4-4967-AF56-A3B05E47FF89}" type="presParOf" srcId="{D48006AD-0BBB-411F-973A-E2599E73AE49}" destId="{57237F01-853C-4B27-A69A-065E6C6AA17F}" srcOrd="2" destOrd="0" presId="urn:microsoft.com/office/officeart/2018/2/layout/IconCircleList"/>
    <dgm:cxn modelId="{730AE57E-59BC-42AF-9900-00DEED0F90B0}" type="presParOf" srcId="{D48006AD-0BBB-411F-973A-E2599E73AE49}" destId="{4F8DD8DA-D777-44BE-A1B3-5A027E2704B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5A66DAA-8D63-45F7-A1C3-2479755698DC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38C72CE-1E36-4949-8ADA-7F643C547C22}">
      <dgm:prSet/>
      <dgm:spPr/>
      <dgm:t>
        <a:bodyPr/>
        <a:lstStyle/>
        <a:p>
          <a:r>
            <a:rPr lang="ru-RU"/>
            <a:t>Прежде всего требуется провести анализ деятельности гостиницы для животных и определить основные процессы, которые возникают в процессе её работы.</a:t>
          </a:r>
          <a:endParaRPr lang="en-US"/>
        </a:p>
      </dgm:t>
    </dgm:pt>
    <dgm:pt modelId="{868C7B18-D126-4E65-9705-2104D19FCA30}" type="parTrans" cxnId="{2E68C1C9-3696-412A-9916-BEB741CE19CC}">
      <dgm:prSet/>
      <dgm:spPr/>
      <dgm:t>
        <a:bodyPr/>
        <a:lstStyle/>
        <a:p>
          <a:endParaRPr lang="en-US"/>
        </a:p>
      </dgm:t>
    </dgm:pt>
    <dgm:pt modelId="{D667AD86-97E1-4B78-B5DD-A277B7358C8C}" type="sibTrans" cxnId="{2E68C1C9-3696-412A-9916-BEB741CE19CC}">
      <dgm:prSet/>
      <dgm:spPr/>
      <dgm:t>
        <a:bodyPr/>
        <a:lstStyle/>
        <a:p>
          <a:endParaRPr lang="en-US"/>
        </a:p>
      </dgm:t>
    </dgm:pt>
    <dgm:pt modelId="{AB499893-C9D2-457E-89EC-7EAD84524772}">
      <dgm:prSet/>
      <dgm:spPr/>
      <dgm:t>
        <a:bodyPr/>
        <a:lstStyle/>
        <a:p>
          <a:r>
            <a:rPr lang="ru-RU"/>
            <a:t>Следующей задачей является определение структуры будущей информационной системы и её основных функциональных возможностей. </a:t>
          </a:r>
          <a:endParaRPr lang="en-US"/>
        </a:p>
      </dgm:t>
    </dgm:pt>
    <dgm:pt modelId="{82773656-7201-497F-915C-A331556F33FC}" type="parTrans" cxnId="{2D996AEC-B789-470B-8BB4-3C3920AE8634}">
      <dgm:prSet/>
      <dgm:spPr/>
      <dgm:t>
        <a:bodyPr/>
        <a:lstStyle/>
        <a:p>
          <a:endParaRPr lang="en-US"/>
        </a:p>
      </dgm:t>
    </dgm:pt>
    <dgm:pt modelId="{0C9424D0-6395-46C6-9F21-B693F8C28825}" type="sibTrans" cxnId="{2D996AEC-B789-470B-8BB4-3C3920AE8634}">
      <dgm:prSet/>
      <dgm:spPr/>
      <dgm:t>
        <a:bodyPr/>
        <a:lstStyle/>
        <a:p>
          <a:endParaRPr lang="en-US"/>
        </a:p>
      </dgm:t>
    </dgm:pt>
    <dgm:pt modelId="{5817538C-8D67-486A-B8A9-177A3EFB2EFA}">
      <dgm:prSet/>
      <dgm:spPr/>
      <dgm:t>
        <a:bodyPr/>
        <a:lstStyle/>
        <a:p>
          <a:r>
            <a:rPr lang="ru-RU"/>
            <a:t>Также одной из задач является проектирование пользовательского интерфейса системы.</a:t>
          </a:r>
          <a:endParaRPr lang="en-US"/>
        </a:p>
      </dgm:t>
    </dgm:pt>
    <dgm:pt modelId="{15E4D7A5-B12D-48D6-90C9-92CE56026DAF}" type="parTrans" cxnId="{8EF82978-205B-4A47-BA49-24A93B12CE3F}">
      <dgm:prSet/>
      <dgm:spPr/>
      <dgm:t>
        <a:bodyPr/>
        <a:lstStyle/>
        <a:p>
          <a:endParaRPr lang="en-US"/>
        </a:p>
      </dgm:t>
    </dgm:pt>
    <dgm:pt modelId="{3809B780-498F-41DD-9393-EDD98D75BAAB}" type="sibTrans" cxnId="{8EF82978-205B-4A47-BA49-24A93B12CE3F}">
      <dgm:prSet/>
      <dgm:spPr/>
      <dgm:t>
        <a:bodyPr/>
        <a:lstStyle/>
        <a:p>
          <a:endParaRPr lang="en-US"/>
        </a:p>
      </dgm:t>
    </dgm:pt>
    <dgm:pt modelId="{43BA0D0C-3223-483C-A492-F3035F337B58}" type="pres">
      <dgm:prSet presAssocID="{E5A66DAA-8D63-45F7-A1C3-2479755698DC}" presName="linear" presStyleCnt="0">
        <dgm:presLayoutVars>
          <dgm:animLvl val="lvl"/>
          <dgm:resizeHandles val="exact"/>
        </dgm:presLayoutVars>
      </dgm:prSet>
      <dgm:spPr/>
    </dgm:pt>
    <dgm:pt modelId="{79025171-0982-44CF-97E6-5C0B882DDBFB}" type="pres">
      <dgm:prSet presAssocID="{238C72CE-1E36-4949-8ADA-7F643C547C2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62750A9-43D4-4283-998C-1EFFF52D36E3}" type="pres">
      <dgm:prSet presAssocID="{D667AD86-97E1-4B78-B5DD-A277B7358C8C}" presName="spacer" presStyleCnt="0"/>
      <dgm:spPr/>
    </dgm:pt>
    <dgm:pt modelId="{A95AEBA2-5B9E-4AA3-A325-A1A69B424F10}" type="pres">
      <dgm:prSet presAssocID="{AB499893-C9D2-457E-89EC-7EAD8452477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2DAC63D-C034-49F0-86B0-A2B775F4C34F}" type="pres">
      <dgm:prSet presAssocID="{0C9424D0-6395-46C6-9F21-B693F8C28825}" presName="spacer" presStyleCnt="0"/>
      <dgm:spPr/>
    </dgm:pt>
    <dgm:pt modelId="{2B689228-734C-4F99-9A1A-CB6A5F743645}" type="pres">
      <dgm:prSet presAssocID="{5817538C-8D67-486A-B8A9-177A3EFB2EF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E464606-61CB-46E3-874A-E91D296E1093}" type="presOf" srcId="{E5A66DAA-8D63-45F7-A1C3-2479755698DC}" destId="{43BA0D0C-3223-483C-A492-F3035F337B58}" srcOrd="0" destOrd="0" presId="urn:microsoft.com/office/officeart/2005/8/layout/vList2"/>
    <dgm:cxn modelId="{5D1A6747-E27B-4553-ABD6-857EB8BCF556}" type="presOf" srcId="{238C72CE-1E36-4949-8ADA-7F643C547C22}" destId="{79025171-0982-44CF-97E6-5C0B882DDBFB}" srcOrd="0" destOrd="0" presId="urn:microsoft.com/office/officeart/2005/8/layout/vList2"/>
    <dgm:cxn modelId="{8EF82978-205B-4A47-BA49-24A93B12CE3F}" srcId="{E5A66DAA-8D63-45F7-A1C3-2479755698DC}" destId="{5817538C-8D67-486A-B8A9-177A3EFB2EFA}" srcOrd="2" destOrd="0" parTransId="{15E4D7A5-B12D-48D6-90C9-92CE56026DAF}" sibTransId="{3809B780-498F-41DD-9393-EDD98D75BAAB}"/>
    <dgm:cxn modelId="{2E68C1C9-3696-412A-9916-BEB741CE19CC}" srcId="{E5A66DAA-8D63-45F7-A1C3-2479755698DC}" destId="{238C72CE-1E36-4949-8ADA-7F643C547C22}" srcOrd="0" destOrd="0" parTransId="{868C7B18-D126-4E65-9705-2104D19FCA30}" sibTransId="{D667AD86-97E1-4B78-B5DD-A277B7358C8C}"/>
    <dgm:cxn modelId="{2D996AEC-B789-470B-8BB4-3C3920AE8634}" srcId="{E5A66DAA-8D63-45F7-A1C3-2479755698DC}" destId="{AB499893-C9D2-457E-89EC-7EAD84524772}" srcOrd="1" destOrd="0" parTransId="{82773656-7201-497F-915C-A331556F33FC}" sibTransId="{0C9424D0-6395-46C6-9F21-B693F8C28825}"/>
    <dgm:cxn modelId="{F3CB65F3-1F7A-42F5-86AA-F7B21DA65B44}" type="presOf" srcId="{AB499893-C9D2-457E-89EC-7EAD84524772}" destId="{A95AEBA2-5B9E-4AA3-A325-A1A69B424F10}" srcOrd="0" destOrd="0" presId="urn:microsoft.com/office/officeart/2005/8/layout/vList2"/>
    <dgm:cxn modelId="{F36CCEF3-854E-4089-8567-9995CE5638FB}" type="presOf" srcId="{5817538C-8D67-486A-B8A9-177A3EFB2EFA}" destId="{2B689228-734C-4F99-9A1A-CB6A5F743645}" srcOrd="0" destOrd="0" presId="urn:microsoft.com/office/officeart/2005/8/layout/vList2"/>
    <dgm:cxn modelId="{9A9B94C9-1D1D-49B1-BCF6-650F9EDFDD4D}" type="presParOf" srcId="{43BA0D0C-3223-483C-A492-F3035F337B58}" destId="{79025171-0982-44CF-97E6-5C0B882DDBFB}" srcOrd="0" destOrd="0" presId="urn:microsoft.com/office/officeart/2005/8/layout/vList2"/>
    <dgm:cxn modelId="{7D561D41-A650-4DDC-B0EE-47B490076F21}" type="presParOf" srcId="{43BA0D0C-3223-483C-A492-F3035F337B58}" destId="{B62750A9-43D4-4283-998C-1EFFF52D36E3}" srcOrd="1" destOrd="0" presId="urn:microsoft.com/office/officeart/2005/8/layout/vList2"/>
    <dgm:cxn modelId="{76887B9F-69CA-475D-A366-5981F471DC5A}" type="presParOf" srcId="{43BA0D0C-3223-483C-A492-F3035F337B58}" destId="{A95AEBA2-5B9E-4AA3-A325-A1A69B424F10}" srcOrd="2" destOrd="0" presId="urn:microsoft.com/office/officeart/2005/8/layout/vList2"/>
    <dgm:cxn modelId="{0AB1D60D-00A2-4D24-A36C-F75EC5B885B1}" type="presParOf" srcId="{43BA0D0C-3223-483C-A492-F3035F337B58}" destId="{E2DAC63D-C034-49F0-86B0-A2B775F4C34F}" srcOrd="3" destOrd="0" presId="urn:microsoft.com/office/officeart/2005/8/layout/vList2"/>
    <dgm:cxn modelId="{68AABD0B-A90F-4DEF-A13C-AF1FC482C103}" type="presParOf" srcId="{43BA0D0C-3223-483C-A492-F3035F337B58}" destId="{2B689228-734C-4F99-9A1A-CB6A5F74364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F9F6D8D-F4DE-40A1-BC79-2BAE0806B844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85FDCA9-AD46-4292-9082-6904A719D753}">
      <dgm:prSet/>
      <dgm:spPr/>
      <dgm:t>
        <a:bodyPr/>
        <a:lstStyle/>
        <a:p>
          <a:r>
            <a:rPr lang="ru-RU"/>
            <a:t>Объектом исследования в данной работе является деятельность гостиницы для животных как организации, предоставляющей услуги по временному размещению и уходу за домашними питомцами. </a:t>
          </a:r>
          <a:endParaRPr lang="en-US"/>
        </a:p>
      </dgm:t>
    </dgm:pt>
    <dgm:pt modelId="{9BC4C3F2-6F31-49D0-9EC1-D81918EAB7F5}" type="parTrans" cxnId="{C3BEC447-033E-4FEB-A96C-8757360B6C0F}">
      <dgm:prSet/>
      <dgm:spPr/>
      <dgm:t>
        <a:bodyPr/>
        <a:lstStyle/>
        <a:p>
          <a:endParaRPr lang="en-US"/>
        </a:p>
      </dgm:t>
    </dgm:pt>
    <dgm:pt modelId="{CB295258-13C6-46C0-956A-FA4AFB0BE8EE}" type="sibTrans" cxnId="{C3BEC447-033E-4FEB-A96C-8757360B6C0F}">
      <dgm:prSet/>
      <dgm:spPr/>
      <dgm:t>
        <a:bodyPr/>
        <a:lstStyle/>
        <a:p>
          <a:endParaRPr lang="en-US"/>
        </a:p>
      </dgm:t>
    </dgm:pt>
    <dgm:pt modelId="{66A7A6BD-3813-4FBA-8B7D-D0DC128BC1E3}">
      <dgm:prSet/>
      <dgm:spPr/>
      <dgm:t>
        <a:bodyPr/>
        <a:lstStyle/>
        <a:p>
          <a:r>
            <a:rPr lang="ru-RU"/>
            <a:t>Предметом исследования выступают процессы обработки информации, возникающие в ходе работы гостиницы для животных, а также методы и средства их автоматизации с использованием современных информационных технологий.</a:t>
          </a:r>
          <a:endParaRPr lang="en-US"/>
        </a:p>
      </dgm:t>
    </dgm:pt>
    <dgm:pt modelId="{44DB382F-7C42-4147-B6BB-9C840902C0E8}" type="parTrans" cxnId="{1B5186B6-CE38-4999-ABCF-409A99FD456C}">
      <dgm:prSet/>
      <dgm:spPr/>
      <dgm:t>
        <a:bodyPr/>
        <a:lstStyle/>
        <a:p>
          <a:endParaRPr lang="en-US"/>
        </a:p>
      </dgm:t>
    </dgm:pt>
    <dgm:pt modelId="{D4EEE1AB-8832-4487-ACE2-F893B545055E}" type="sibTrans" cxnId="{1B5186B6-CE38-4999-ABCF-409A99FD456C}">
      <dgm:prSet/>
      <dgm:spPr/>
      <dgm:t>
        <a:bodyPr/>
        <a:lstStyle/>
        <a:p>
          <a:endParaRPr lang="en-US"/>
        </a:p>
      </dgm:t>
    </dgm:pt>
    <dgm:pt modelId="{EB72FFEC-2039-4501-90DB-53942AFCB7E4}" type="pres">
      <dgm:prSet presAssocID="{FF9F6D8D-F4DE-40A1-BC79-2BAE0806B844}" presName="linear" presStyleCnt="0">
        <dgm:presLayoutVars>
          <dgm:animLvl val="lvl"/>
          <dgm:resizeHandles val="exact"/>
        </dgm:presLayoutVars>
      </dgm:prSet>
      <dgm:spPr/>
    </dgm:pt>
    <dgm:pt modelId="{617C05FE-0309-4A98-846C-07F448E74C9E}" type="pres">
      <dgm:prSet presAssocID="{185FDCA9-AD46-4292-9082-6904A719D75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4372260-C248-40A4-A70C-5C53C0DA6D8D}" type="pres">
      <dgm:prSet presAssocID="{CB295258-13C6-46C0-956A-FA4AFB0BE8EE}" presName="spacer" presStyleCnt="0"/>
      <dgm:spPr/>
    </dgm:pt>
    <dgm:pt modelId="{DE76DD46-BBFA-4C05-B41C-54CF1C75CA9A}" type="pres">
      <dgm:prSet presAssocID="{66A7A6BD-3813-4FBA-8B7D-D0DC128BC1E3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2E86B705-8870-443C-94CF-B5322ABD4F2B}" type="presOf" srcId="{FF9F6D8D-F4DE-40A1-BC79-2BAE0806B844}" destId="{EB72FFEC-2039-4501-90DB-53942AFCB7E4}" srcOrd="0" destOrd="0" presId="urn:microsoft.com/office/officeart/2005/8/layout/vList2"/>
    <dgm:cxn modelId="{C3BEC447-033E-4FEB-A96C-8757360B6C0F}" srcId="{FF9F6D8D-F4DE-40A1-BC79-2BAE0806B844}" destId="{185FDCA9-AD46-4292-9082-6904A719D753}" srcOrd="0" destOrd="0" parTransId="{9BC4C3F2-6F31-49D0-9EC1-D81918EAB7F5}" sibTransId="{CB295258-13C6-46C0-956A-FA4AFB0BE8EE}"/>
    <dgm:cxn modelId="{A355ED51-55A8-4E85-B4D9-5F2137204772}" type="presOf" srcId="{66A7A6BD-3813-4FBA-8B7D-D0DC128BC1E3}" destId="{DE76DD46-BBFA-4C05-B41C-54CF1C75CA9A}" srcOrd="0" destOrd="0" presId="urn:microsoft.com/office/officeart/2005/8/layout/vList2"/>
    <dgm:cxn modelId="{1B5186B6-CE38-4999-ABCF-409A99FD456C}" srcId="{FF9F6D8D-F4DE-40A1-BC79-2BAE0806B844}" destId="{66A7A6BD-3813-4FBA-8B7D-D0DC128BC1E3}" srcOrd="1" destOrd="0" parTransId="{44DB382F-7C42-4147-B6BB-9C840902C0E8}" sibTransId="{D4EEE1AB-8832-4487-ACE2-F893B545055E}"/>
    <dgm:cxn modelId="{72D630BD-2883-4AF4-9461-8A35A6E3964D}" type="presOf" srcId="{185FDCA9-AD46-4292-9082-6904A719D753}" destId="{617C05FE-0309-4A98-846C-07F448E74C9E}" srcOrd="0" destOrd="0" presId="urn:microsoft.com/office/officeart/2005/8/layout/vList2"/>
    <dgm:cxn modelId="{415E0D15-3413-40CD-B36B-36E7AAC1CE94}" type="presParOf" srcId="{EB72FFEC-2039-4501-90DB-53942AFCB7E4}" destId="{617C05FE-0309-4A98-846C-07F448E74C9E}" srcOrd="0" destOrd="0" presId="urn:microsoft.com/office/officeart/2005/8/layout/vList2"/>
    <dgm:cxn modelId="{A48A8B0E-EC6C-445C-82E1-8AA551694910}" type="presParOf" srcId="{EB72FFEC-2039-4501-90DB-53942AFCB7E4}" destId="{24372260-C248-40A4-A70C-5C53C0DA6D8D}" srcOrd="1" destOrd="0" presId="urn:microsoft.com/office/officeart/2005/8/layout/vList2"/>
    <dgm:cxn modelId="{A117D410-5743-4F90-B9BD-997C9B3AECDA}" type="presParOf" srcId="{EB72FFEC-2039-4501-90DB-53942AFCB7E4}" destId="{DE76DD46-BBFA-4C05-B41C-54CF1C75CA9A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3115680-3637-4C9C-B198-E281868D4685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88C4657-22BE-4088-9422-9069A7D32FEA}">
      <dgm:prSet/>
      <dgm:spPr/>
      <dgm:t>
        <a:bodyPr/>
        <a:lstStyle/>
        <a:p>
          <a:r>
            <a:rPr lang="ru-RU"/>
            <a:t>Основные понятия предметной области,</a:t>
          </a:r>
          <a:endParaRPr lang="en-US"/>
        </a:p>
      </dgm:t>
    </dgm:pt>
    <dgm:pt modelId="{ECAA0A4F-682D-49E6-86BC-662411E1745E}" type="parTrans" cxnId="{90E5BBC1-F179-4ED4-92AC-6115BD52E114}">
      <dgm:prSet/>
      <dgm:spPr/>
      <dgm:t>
        <a:bodyPr/>
        <a:lstStyle/>
        <a:p>
          <a:endParaRPr lang="en-US"/>
        </a:p>
      </dgm:t>
    </dgm:pt>
    <dgm:pt modelId="{058CD275-469F-45FC-8359-8E4E5DA9F4C8}" type="sibTrans" cxnId="{90E5BBC1-F179-4ED4-92AC-6115BD52E114}">
      <dgm:prSet/>
      <dgm:spPr/>
      <dgm:t>
        <a:bodyPr/>
        <a:lstStyle/>
        <a:p>
          <a:endParaRPr lang="en-US"/>
        </a:p>
      </dgm:t>
    </dgm:pt>
    <dgm:pt modelId="{D71D1086-6B88-4262-BC3A-2672BDCA6B0D}">
      <dgm:prSet/>
      <dgm:spPr/>
      <dgm:t>
        <a:bodyPr/>
        <a:lstStyle/>
        <a:p>
          <a:r>
            <a:rPr lang="ru-RU"/>
            <a:t>Одним из ключевых понятий является клиент или владелец животного. </a:t>
          </a:r>
          <a:endParaRPr lang="en-US"/>
        </a:p>
      </dgm:t>
    </dgm:pt>
    <dgm:pt modelId="{D0D43C5A-610B-4929-A77A-C38E3C87FE18}" type="parTrans" cxnId="{E087FFC7-1FCA-45D5-AC59-CF7DE9D8BB83}">
      <dgm:prSet/>
      <dgm:spPr/>
      <dgm:t>
        <a:bodyPr/>
        <a:lstStyle/>
        <a:p>
          <a:endParaRPr lang="en-US"/>
        </a:p>
      </dgm:t>
    </dgm:pt>
    <dgm:pt modelId="{62975992-AFA9-4081-96B8-8B6053712EC9}" type="sibTrans" cxnId="{E087FFC7-1FCA-45D5-AC59-CF7DE9D8BB83}">
      <dgm:prSet/>
      <dgm:spPr/>
      <dgm:t>
        <a:bodyPr/>
        <a:lstStyle/>
        <a:p>
          <a:endParaRPr lang="en-US"/>
        </a:p>
      </dgm:t>
    </dgm:pt>
    <dgm:pt modelId="{9CD1823B-431B-409C-8B34-8803CD392831}">
      <dgm:prSet/>
      <dgm:spPr/>
      <dgm:t>
        <a:bodyPr/>
        <a:lstStyle/>
        <a:p>
          <a:r>
            <a:rPr lang="ru-RU"/>
            <a:t>Клиент предоставляет необходимую информацию о животном, оформляет договор на оказание услуг и производит оплату.</a:t>
          </a:r>
          <a:endParaRPr lang="en-US"/>
        </a:p>
      </dgm:t>
    </dgm:pt>
    <dgm:pt modelId="{DCB2A2D1-26B8-4FE9-B2B4-A8C31A5A4BE5}" type="parTrans" cxnId="{53F90C4A-6415-4EC2-B493-1F106D6F034A}">
      <dgm:prSet/>
      <dgm:spPr/>
      <dgm:t>
        <a:bodyPr/>
        <a:lstStyle/>
        <a:p>
          <a:endParaRPr lang="en-US"/>
        </a:p>
      </dgm:t>
    </dgm:pt>
    <dgm:pt modelId="{167E2F47-3347-4261-A098-8516A6AA564B}" type="sibTrans" cxnId="{53F90C4A-6415-4EC2-B493-1F106D6F034A}">
      <dgm:prSet/>
      <dgm:spPr/>
      <dgm:t>
        <a:bodyPr/>
        <a:lstStyle/>
        <a:p>
          <a:endParaRPr lang="en-US"/>
        </a:p>
      </dgm:t>
    </dgm:pt>
    <dgm:pt modelId="{9E082C94-BD01-4372-925D-3EB28716733C}">
      <dgm:prSet/>
      <dgm:spPr/>
      <dgm:t>
        <a:bodyPr/>
        <a:lstStyle/>
        <a:p>
          <a:r>
            <a:rPr lang="ru-RU"/>
            <a:t>Не менее важным понятием является животное, которое выступает основным объектом обслуживания в гостинице. </a:t>
          </a:r>
          <a:endParaRPr lang="en-US"/>
        </a:p>
      </dgm:t>
    </dgm:pt>
    <dgm:pt modelId="{3098A4B8-4CF7-48F3-B2F3-8F8B247A0BAF}" type="parTrans" cxnId="{7FF86C9E-4686-47DC-A3A3-0A30815298AA}">
      <dgm:prSet/>
      <dgm:spPr/>
      <dgm:t>
        <a:bodyPr/>
        <a:lstStyle/>
        <a:p>
          <a:endParaRPr lang="en-US"/>
        </a:p>
      </dgm:t>
    </dgm:pt>
    <dgm:pt modelId="{A190F972-D391-4BB2-8B27-8CFC6D23C886}" type="sibTrans" cxnId="{7FF86C9E-4686-47DC-A3A3-0A30815298AA}">
      <dgm:prSet/>
      <dgm:spPr/>
      <dgm:t>
        <a:bodyPr/>
        <a:lstStyle/>
        <a:p>
          <a:endParaRPr lang="en-US"/>
        </a:p>
      </dgm:t>
    </dgm:pt>
    <dgm:pt modelId="{06A4876D-0CA0-42AA-BFCE-B0A8C3B80630}">
      <dgm:prSet/>
      <dgm:spPr/>
      <dgm:t>
        <a:bodyPr/>
        <a:lstStyle/>
        <a:p>
          <a:r>
            <a:rPr lang="ru-RU" dirty="0"/>
            <a:t>Услуга. В контексте гостиницы для животных услугой считается действие или комплекс действий, направленных на обеспечение ухода и содержания животного. </a:t>
          </a:r>
          <a:endParaRPr lang="en-US" dirty="0"/>
        </a:p>
      </dgm:t>
    </dgm:pt>
    <dgm:pt modelId="{9D9CFF77-3B5F-4209-8551-CD95769FB318}" type="parTrans" cxnId="{B49BA5B6-2180-43EA-882E-4E7769E8F205}">
      <dgm:prSet/>
      <dgm:spPr/>
      <dgm:t>
        <a:bodyPr/>
        <a:lstStyle/>
        <a:p>
          <a:endParaRPr lang="en-US"/>
        </a:p>
      </dgm:t>
    </dgm:pt>
    <dgm:pt modelId="{261D4037-60EB-4D8D-9EEE-F89D7890837F}" type="sibTrans" cxnId="{B49BA5B6-2180-43EA-882E-4E7769E8F205}">
      <dgm:prSet/>
      <dgm:spPr/>
      <dgm:t>
        <a:bodyPr/>
        <a:lstStyle/>
        <a:p>
          <a:endParaRPr lang="en-US"/>
        </a:p>
      </dgm:t>
    </dgm:pt>
    <dgm:pt modelId="{4DAA943F-B350-44C9-9E16-9C2D59F4731E}">
      <dgm:prSet/>
      <dgm:spPr/>
      <dgm:t>
        <a:bodyPr/>
        <a:lstStyle/>
        <a:p>
          <a:r>
            <a:rPr lang="ru-RU"/>
            <a:t>Существенным элементом предметной области является бронирование. Бронирование представляет собой процесс предварительного резервирования места для животного на определенный период времени. </a:t>
          </a:r>
          <a:endParaRPr lang="en-US"/>
        </a:p>
      </dgm:t>
    </dgm:pt>
    <dgm:pt modelId="{B8667E3D-E89E-4469-9057-A70BC3963759}" type="parTrans" cxnId="{A7F71F02-FE4A-46F2-8A0B-1D97FADF29FF}">
      <dgm:prSet/>
      <dgm:spPr/>
      <dgm:t>
        <a:bodyPr/>
        <a:lstStyle/>
        <a:p>
          <a:endParaRPr lang="en-US"/>
        </a:p>
      </dgm:t>
    </dgm:pt>
    <dgm:pt modelId="{1F99186E-20AD-4EB8-BE92-AB60F866736A}" type="sibTrans" cxnId="{A7F71F02-FE4A-46F2-8A0B-1D97FADF29FF}">
      <dgm:prSet/>
      <dgm:spPr/>
      <dgm:t>
        <a:bodyPr/>
        <a:lstStyle/>
        <a:p>
          <a:endParaRPr lang="en-US"/>
        </a:p>
      </dgm:t>
    </dgm:pt>
    <dgm:pt modelId="{7A5A14FE-41F5-4D5A-A1D7-D7DA1EDE4AEE}" type="pres">
      <dgm:prSet presAssocID="{73115680-3637-4C9C-B198-E281868D4685}" presName="linear" presStyleCnt="0">
        <dgm:presLayoutVars>
          <dgm:animLvl val="lvl"/>
          <dgm:resizeHandles val="exact"/>
        </dgm:presLayoutVars>
      </dgm:prSet>
      <dgm:spPr/>
    </dgm:pt>
    <dgm:pt modelId="{DA4EFD1A-F4A7-4C25-A3B2-F2E41D306749}" type="pres">
      <dgm:prSet presAssocID="{888C4657-22BE-4088-9422-9069A7D32FEA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9F78853A-3100-4E10-B362-40DF36EFAB6E}" type="pres">
      <dgm:prSet presAssocID="{058CD275-469F-45FC-8359-8E4E5DA9F4C8}" presName="spacer" presStyleCnt="0"/>
      <dgm:spPr/>
    </dgm:pt>
    <dgm:pt modelId="{FAC96100-BCA2-425D-8A6E-1AB6AF5CC4AE}" type="pres">
      <dgm:prSet presAssocID="{D71D1086-6B88-4262-BC3A-2672BDCA6B0D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C68B246A-89A9-4E9C-8AB7-CAE575B03720}" type="pres">
      <dgm:prSet presAssocID="{62975992-AFA9-4081-96B8-8B6053712EC9}" presName="spacer" presStyleCnt="0"/>
      <dgm:spPr/>
    </dgm:pt>
    <dgm:pt modelId="{2FE57E90-A7D8-463D-90E6-DF8BC848F0FB}" type="pres">
      <dgm:prSet presAssocID="{9CD1823B-431B-409C-8B34-8803CD392831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3E93DB52-237C-496E-AB6D-F0513E63AD6E}" type="pres">
      <dgm:prSet presAssocID="{167E2F47-3347-4261-A098-8516A6AA564B}" presName="spacer" presStyleCnt="0"/>
      <dgm:spPr/>
    </dgm:pt>
    <dgm:pt modelId="{8D932980-EE59-4190-9768-0D987EB6ADB2}" type="pres">
      <dgm:prSet presAssocID="{9E082C94-BD01-4372-925D-3EB28716733C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D2DECFF3-7A35-41C2-A0EE-DC28E30B2FE2}" type="pres">
      <dgm:prSet presAssocID="{A190F972-D391-4BB2-8B27-8CFC6D23C886}" presName="spacer" presStyleCnt="0"/>
      <dgm:spPr/>
    </dgm:pt>
    <dgm:pt modelId="{18D682E5-E0DF-4909-B435-0115BB8A6802}" type="pres">
      <dgm:prSet presAssocID="{06A4876D-0CA0-42AA-BFCE-B0A8C3B80630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8893FC87-D0B9-47C7-BD56-03066B4BE068}" type="pres">
      <dgm:prSet presAssocID="{261D4037-60EB-4D8D-9EEE-F89D7890837F}" presName="spacer" presStyleCnt="0"/>
      <dgm:spPr/>
    </dgm:pt>
    <dgm:pt modelId="{1A1D0DE7-F9E4-4745-9ECD-79EED5856F8B}" type="pres">
      <dgm:prSet presAssocID="{4DAA943F-B350-44C9-9E16-9C2D59F4731E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A7F71F02-FE4A-46F2-8A0B-1D97FADF29FF}" srcId="{73115680-3637-4C9C-B198-E281868D4685}" destId="{4DAA943F-B350-44C9-9E16-9C2D59F4731E}" srcOrd="5" destOrd="0" parTransId="{B8667E3D-E89E-4469-9057-A70BC3963759}" sibTransId="{1F99186E-20AD-4EB8-BE92-AB60F866736A}"/>
    <dgm:cxn modelId="{9DA13534-6A70-4074-AF89-81C98D891457}" type="presOf" srcId="{D71D1086-6B88-4262-BC3A-2672BDCA6B0D}" destId="{FAC96100-BCA2-425D-8A6E-1AB6AF5CC4AE}" srcOrd="0" destOrd="0" presId="urn:microsoft.com/office/officeart/2005/8/layout/vList2"/>
    <dgm:cxn modelId="{A0C8165E-C315-47F6-ADAD-4A98825C24F9}" type="presOf" srcId="{73115680-3637-4C9C-B198-E281868D4685}" destId="{7A5A14FE-41F5-4D5A-A1D7-D7DA1EDE4AEE}" srcOrd="0" destOrd="0" presId="urn:microsoft.com/office/officeart/2005/8/layout/vList2"/>
    <dgm:cxn modelId="{77771C66-4BF0-451B-BF96-B9E5D03238A5}" type="presOf" srcId="{9CD1823B-431B-409C-8B34-8803CD392831}" destId="{2FE57E90-A7D8-463D-90E6-DF8BC848F0FB}" srcOrd="0" destOrd="0" presId="urn:microsoft.com/office/officeart/2005/8/layout/vList2"/>
    <dgm:cxn modelId="{52C28F67-791B-45A1-90B1-032D4B5539FE}" type="presOf" srcId="{9E082C94-BD01-4372-925D-3EB28716733C}" destId="{8D932980-EE59-4190-9768-0D987EB6ADB2}" srcOrd="0" destOrd="0" presId="urn:microsoft.com/office/officeart/2005/8/layout/vList2"/>
    <dgm:cxn modelId="{53F90C4A-6415-4EC2-B493-1F106D6F034A}" srcId="{73115680-3637-4C9C-B198-E281868D4685}" destId="{9CD1823B-431B-409C-8B34-8803CD392831}" srcOrd="2" destOrd="0" parTransId="{DCB2A2D1-26B8-4FE9-B2B4-A8C31A5A4BE5}" sibTransId="{167E2F47-3347-4261-A098-8516A6AA564B}"/>
    <dgm:cxn modelId="{204BA675-CB6B-42D8-8E56-946137F54A1B}" type="presOf" srcId="{888C4657-22BE-4088-9422-9069A7D32FEA}" destId="{DA4EFD1A-F4A7-4C25-A3B2-F2E41D306749}" srcOrd="0" destOrd="0" presId="urn:microsoft.com/office/officeart/2005/8/layout/vList2"/>
    <dgm:cxn modelId="{7FF86C9E-4686-47DC-A3A3-0A30815298AA}" srcId="{73115680-3637-4C9C-B198-E281868D4685}" destId="{9E082C94-BD01-4372-925D-3EB28716733C}" srcOrd="3" destOrd="0" parTransId="{3098A4B8-4CF7-48F3-B2F3-8F8B247A0BAF}" sibTransId="{A190F972-D391-4BB2-8B27-8CFC6D23C886}"/>
    <dgm:cxn modelId="{B49BA5B6-2180-43EA-882E-4E7769E8F205}" srcId="{73115680-3637-4C9C-B198-E281868D4685}" destId="{06A4876D-0CA0-42AA-BFCE-B0A8C3B80630}" srcOrd="4" destOrd="0" parTransId="{9D9CFF77-3B5F-4209-8551-CD95769FB318}" sibTransId="{261D4037-60EB-4D8D-9EEE-F89D7890837F}"/>
    <dgm:cxn modelId="{CE4A4CC0-2C86-48F3-BD7D-0EA1DA041E81}" type="presOf" srcId="{4DAA943F-B350-44C9-9E16-9C2D59F4731E}" destId="{1A1D0DE7-F9E4-4745-9ECD-79EED5856F8B}" srcOrd="0" destOrd="0" presId="urn:microsoft.com/office/officeart/2005/8/layout/vList2"/>
    <dgm:cxn modelId="{90E5BBC1-F179-4ED4-92AC-6115BD52E114}" srcId="{73115680-3637-4C9C-B198-E281868D4685}" destId="{888C4657-22BE-4088-9422-9069A7D32FEA}" srcOrd="0" destOrd="0" parTransId="{ECAA0A4F-682D-49E6-86BC-662411E1745E}" sibTransId="{058CD275-469F-45FC-8359-8E4E5DA9F4C8}"/>
    <dgm:cxn modelId="{E087FFC7-1FCA-45D5-AC59-CF7DE9D8BB83}" srcId="{73115680-3637-4C9C-B198-E281868D4685}" destId="{D71D1086-6B88-4262-BC3A-2672BDCA6B0D}" srcOrd="1" destOrd="0" parTransId="{D0D43C5A-610B-4929-A77A-C38E3C87FE18}" sibTransId="{62975992-AFA9-4081-96B8-8B6053712EC9}"/>
    <dgm:cxn modelId="{06E600E1-04F2-4BE7-B627-537B4E3C1A9A}" type="presOf" srcId="{06A4876D-0CA0-42AA-BFCE-B0A8C3B80630}" destId="{18D682E5-E0DF-4909-B435-0115BB8A6802}" srcOrd="0" destOrd="0" presId="urn:microsoft.com/office/officeart/2005/8/layout/vList2"/>
    <dgm:cxn modelId="{E744E14A-47B1-4BFE-B6D1-0DDC4BAFB8B8}" type="presParOf" srcId="{7A5A14FE-41F5-4D5A-A1D7-D7DA1EDE4AEE}" destId="{DA4EFD1A-F4A7-4C25-A3B2-F2E41D306749}" srcOrd="0" destOrd="0" presId="urn:microsoft.com/office/officeart/2005/8/layout/vList2"/>
    <dgm:cxn modelId="{49D96A7B-659C-4CB7-9799-6551D01D51B1}" type="presParOf" srcId="{7A5A14FE-41F5-4D5A-A1D7-D7DA1EDE4AEE}" destId="{9F78853A-3100-4E10-B362-40DF36EFAB6E}" srcOrd="1" destOrd="0" presId="urn:microsoft.com/office/officeart/2005/8/layout/vList2"/>
    <dgm:cxn modelId="{E27E8E64-E7C9-408A-B40E-460ADA8130F2}" type="presParOf" srcId="{7A5A14FE-41F5-4D5A-A1D7-D7DA1EDE4AEE}" destId="{FAC96100-BCA2-425D-8A6E-1AB6AF5CC4AE}" srcOrd="2" destOrd="0" presId="urn:microsoft.com/office/officeart/2005/8/layout/vList2"/>
    <dgm:cxn modelId="{BDA549B2-2798-4BC1-9033-20E817106A75}" type="presParOf" srcId="{7A5A14FE-41F5-4D5A-A1D7-D7DA1EDE4AEE}" destId="{C68B246A-89A9-4E9C-8AB7-CAE575B03720}" srcOrd="3" destOrd="0" presId="urn:microsoft.com/office/officeart/2005/8/layout/vList2"/>
    <dgm:cxn modelId="{226855FD-4F0C-402B-A400-B356C5A010B6}" type="presParOf" srcId="{7A5A14FE-41F5-4D5A-A1D7-D7DA1EDE4AEE}" destId="{2FE57E90-A7D8-463D-90E6-DF8BC848F0FB}" srcOrd="4" destOrd="0" presId="urn:microsoft.com/office/officeart/2005/8/layout/vList2"/>
    <dgm:cxn modelId="{614C9809-C3E1-4F80-802F-B6ADB39C68DB}" type="presParOf" srcId="{7A5A14FE-41F5-4D5A-A1D7-D7DA1EDE4AEE}" destId="{3E93DB52-237C-496E-AB6D-F0513E63AD6E}" srcOrd="5" destOrd="0" presId="urn:microsoft.com/office/officeart/2005/8/layout/vList2"/>
    <dgm:cxn modelId="{31C7ADBF-4A9B-4267-BC1B-6D80A3C0E96B}" type="presParOf" srcId="{7A5A14FE-41F5-4D5A-A1D7-D7DA1EDE4AEE}" destId="{8D932980-EE59-4190-9768-0D987EB6ADB2}" srcOrd="6" destOrd="0" presId="urn:microsoft.com/office/officeart/2005/8/layout/vList2"/>
    <dgm:cxn modelId="{84C81055-72D5-4AAA-811D-68A351C2AD84}" type="presParOf" srcId="{7A5A14FE-41F5-4D5A-A1D7-D7DA1EDE4AEE}" destId="{D2DECFF3-7A35-41C2-A0EE-DC28E30B2FE2}" srcOrd="7" destOrd="0" presId="urn:microsoft.com/office/officeart/2005/8/layout/vList2"/>
    <dgm:cxn modelId="{418B5769-3CF6-4071-9041-5535719534E5}" type="presParOf" srcId="{7A5A14FE-41F5-4D5A-A1D7-D7DA1EDE4AEE}" destId="{18D682E5-E0DF-4909-B435-0115BB8A6802}" srcOrd="8" destOrd="0" presId="urn:microsoft.com/office/officeart/2005/8/layout/vList2"/>
    <dgm:cxn modelId="{DE88D081-8031-4AB8-9D9D-33DE03915EAD}" type="presParOf" srcId="{7A5A14FE-41F5-4D5A-A1D7-D7DA1EDE4AEE}" destId="{8893FC87-D0B9-47C7-BD56-03066B4BE068}" srcOrd="9" destOrd="0" presId="urn:microsoft.com/office/officeart/2005/8/layout/vList2"/>
    <dgm:cxn modelId="{D3B5B8D0-2847-4171-ABC7-6105B1798658}" type="presParOf" srcId="{7A5A14FE-41F5-4D5A-A1D7-D7DA1EDE4AEE}" destId="{1A1D0DE7-F9E4-4745-9ECD-79EED5856F8B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6BE79D6-7969-40CC-BEFD-F842E7DBB8E7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073E362-704B-436F-84D9-D45DF0C20A5B}">
      <dgm:prSet/>
      <dgm:spPr/>
      <dgm:t>
        <a:bodyPr/>
        <a:lstStyle/>
        <a:p>
          <a:r>
            <a:rPr lang="ru-RU"/>
            <a:t>При разработке информационной системы для гостиницы для животных необходимо учитывать ряд общих принципов проектирования программного обеспечения. </a:t>
          </a:r>
          <a:endParaRPr lang="en-US"/>
        </a:p>
      </dgm:t>
    </dgm:pt>
    <dgm:pt modelId="{F32DBCC4-4316-4308-8D74-940EA7C43325}" type="parTrans" cxnId="{BB6FB4EC-CB99-4281-9AA1-DB20839A21E2}">
      <dgm:prSet/>
      <dgm:spPr/>
      <dgm:t>
        <a:bodyPr/>
        <a:lstStyle/>
        <a:p>
          <a:endParaRPr lang="en-US"/>
        </a:p>
      </dgm:t>
    </dgm:pt>
    <dgm:pt modelId="{D1D52724-3F0C-446A-B889-765202A662C7}" type="sibTrans" cxnId="{BB6FB4EC-CB99-4281-9AA1-DB20839A21E2}">
      <dgm:prSet/>
      <dgm:spPr/>
      <dgm:t>
        <a:bodyPr/>
        <a:lstStyle/>
        <a:p>
          <a:endParaRPr lang="en-US"/>
        </a:p>
      </dgm:t>
    </dgm:pt>
    <dgm:pt modelId="{70B37751-6EA4-4DF5-B7B2-7B6F6796AA9B}">
      <dgm:prSet/>
      <dgm:spPr/>
      <dgm:t>
        <a:bodyPr/>
        <a:lstStyle/>
        <a:p>
          <a:r>
            <a:rPr lang="ru-RU"/>
            <a:t>принцип системности. Он заключается в том, что разрабатываемая информационная система должна рассматриваться как единое целое, состоящее из взаимосвязанных элементов. </a:t>
          </a:r>
          <a:endParaRPr lang="en-US"/>
        </a:p>
      </dgm:t>
    </dgm:pt>
    <dgm:pt modelId="{ADD23328-08EF-459A-8627-F5AB5182BEC7}" type="parTrans" cxnId="{3EC7788B-F977-4CDD-B142-6E09F178C167}">
      <dgm:prSet/>
      <dgm:spPr/>
      <dgm:t>
        <a:bodyPr/>
        <a:lstStyle/>
        <a:p>
          <a:endParaRPr lang="en-US"/>
        </a:p>
      </dgm:t>
    </dgm:pt>
    <dgm:pt modelId="{D42B0C4F-0AC1-4C57-9C82-1D534957FE04}" type="sibTrans" cxnId="{3EC7788B-F977-4CDD-B142-6E09F178C167}">
      <dgm:prSet/>
      <dgm:spPr/>
      <dgm:t>
        <a:bodyPr/>
        <a:lstStyle/>
        <a:p>
          <a:endParaRPr lang="en-US"/>
        </a:p>
      </dgm:t>
    </dgm:pt>
    <dgm:pt modelId="{2C588C7B-F390-487E-B80B-2DD00A5B1E40}">
      <dgm:prSet/>
      <dgm:spPr/>
      <dgm:t>
        <a:bodyPr/>
        <a:lstStyle/>
        <a:p>
          <a:r>
            <a:rPr lang="ru-RU"/>
            <a:t>принцип модульности. Согласно данному принципу, программный продукт должен состоять из отдельных модулей или компонентов, каждый из которых отвечает за выполнение определённой функции.</a:t>
          </a:r>
          <a:endParaRPr lang="en-US"/>
        </a:p>
      </dgm:t>
    </dgm:pt>
    <dgm:pt modelId="{E2084404-FE5B-471A-8248-242CE9FCB49E}" type="parTrans" cxnId="{630893CC-F798-4577-95A3-01F3AAE3E13F}">
      <dgm:prSet/>
      <dgm:spPr/>
      <dgm:t>
        <a:bodyPr/>
        <a:lstStyle/>
        <a:p>
          <a:endParaRPr lang="en-US"/>
        </a:p>
      </dgm:t>
    </dgm:pt>
    <dgm:pt modelId="{82357AAB-34D6-4FA6-8445-EDF943B85BB4}" type="sibTrans" cxnId="{630893CC-F798-4577-95A3-01F3AAE3E13F}">
      <dgm:prSet/>
      <dgm:spPr/>
      <dgm:t>
        <a:bodyPr/>
        <a:lstStyle/>
        <a:p>
          <a:endParaRPr lang="en-US"/>
        </a:p>
      </dgm:t>
    </dgm:pt>
    <dgm:pt modelId="{EB8142D1-F2B5-47B3-95BF-2DBEE3C3812C}">
      <dgm:prSet/>
      <dgm:spPr/>
      <dgm:t>
        <a:bodyPr/>
        <a:lstStyle/>
        <a:p>
          <a:r>
            <a:rPr lang="ru-RU"/>
            <a:t>принцип удобства использования или пользовательской ориентированности. Информационная система должна быть понятной и простой в использовании для сотрудников гостиницы.</a:t>
          </a:r>
          <a:endParaRPr lang="en-US"/>
        </a:p>
      </dgm:t>
    </dgm:pt>
    <dgm:pt modelId="{5920CBC8-C3BC-4669-886A-DE200372420E}" type="parTrans" cxnId="{19255E1B-79F0-44CE-A132-926950F419F9}">
      <dgm:prSet/>
      <dgm:spPr/>
      <dgm:t>
        <a:bodyPr/>
        <a:lstStyle/>
        <a:p>
          <a:endParaRPr lang="en-US"/>
        </a:p>
      </dgm:t>
    </dgm:pt>
    <dgm:pt modelId="{3EED3D39-D313-42CD-9D84-548FEA8992A6}" type="sibTrans" cxnId="{19255E1B-79F0-44CE-A132-926950F419F9}">
      <dgm:prSet/>
      <dgm:spPr/>
      <dgm:t>
        <a:bodyPr/>
        <a:lstStyle/>
        <a:p>
          <a:endParaRPr lang="en-US"/>
        </a:p>
      </dgm:t>
    </dgm:pt>
    <dgm:pt modelId="{90BD5193-E742-4267-8AE9-C50FEA738583}">
      <dgm:prSet/>
      <dgm:spPr/>
      <dgm:t>
        <a:bodyPr/>
        <a:lstStyle/>
        <a:p>
          <a:r>
            <a:rPr lang="ru-RU"/>
            <a:t>принцип надежности. Программный продукт должен обеспечивать стабильную и корректную работу при различных условиях эксплуатации.</a:t>
          </a:r>
          <a:endParaRPr lang="en-US"/>
        </a:p>
      </dgm:t>
    </dgm:pt>
    <dgm:pt modelId="{905504AC-BF28-4E9E-9676-BC47CA7111C0}" type="parTrans" cxnId="{A814A49A-1190-443C-95A1-E61A6237F182}">
      <dgm:prSet/>
      <dgm:spPr/>
      <dgm:t>
        <a:bodyPr/>
        <a:lstStyle/>
        <a:p>
          <a:endParaRPr lang="en-US"/>
        </a:p>
      </dgm:t>
    </dgm:pt>
    <dgm:pt modelId="{87764227-4F43-49EA-A0BC-54DE7F555B45}" type="sibTrans" cxnId="{A814A49A-1190-443C-95A1-E61A6237F182}">
      <dgm:prSet/>
      <dgm:spPr/>
      <dgm:t>
        <a:bodyPr/>
        <a:lstStyle/>
        <a:p>
          <a:endParaRPr lang="en-US"/>
        </a:p>
      </dgm:t>
    </dgm:pt>
    <dgm:pt modelId="{3564E9D6-9441-4EB4-B610-B2D5A4AE0E69}">
      <dgm:prSet/>
      <dgm:spPr/>
      <dgm:t>
        <a:bodyPr/>
        <a:lstStyle/>
        <a:p>
          <a:r>
            <a:rPr lang="ru-RU"/>
            <a:t>принцип эффективности. Информационная система должна обеспечивать быстрое выполнение операций и рациональное использование ресурсов компьютера. </a:t>
          </a:r>
          <a:endParaRPr lang="en-US"/>
        </a:p>
      </dgm:t>
    </dgm:pt>
    <dgm:pt modelId="{2530392D-AFCA-45A9-B4DF-288EB2C59818}" type="parTrans" cxnId="{A72DF987-38CF-4D87-9544-0B25A90727BC}">
      <dgm:prSet/>
      <dgm:spPr/>
      <dgm:t>
        <a:bodyPr/>
        <a:lstStyle/>
        <a:p>
          <a:endParaRPr lang="en-US"/>
        </a:p>
      </dgm:t>
    </dgm:pt>
    <dgm:pt modelId="{9369B34D-D253-4B3A-998B-6875A3F337AB}" type="sibTrans" cxnId="{A72DF987-38CF-4D87-9544-0B25A90727BC}">
      <dgm:prSet/>
      <dgm:spPr/>
      <dgm:t>
        <a:bodyPr/>
        <a:lstStyle/>
        <a:p>
          <a:endParaRPr lang="en-US"/>
        </a:p>
      </dgm:t>
    </dgm:pt>
    <dgm:pt modelId="{E9470D51-4484-4FD3-A3C0-43789861807F}">
      <dgm:prSet/>
      <dgm:spPr/>
      <dgm:t>
        <a:bodyPr/>
        <a:lstStyle/>
        <a:p>
          <a:r>
            <a:rPr lang="ru-RU"/>
            <a:t>принцип масштабируемости. В процессе развития гостиницы для животных может увеличиваться количество клиентов, животных и предоставляемых услуг.</a:t>
          </a:r>
          <a:endParaRPr lang="en-US"/>
        </a:p>
      </dgm:t>
    </dgm:pt>
    <dgm:pt modelId="{A2099046-F556-41AB-B29B-D5F9F18F8270}" type="parTrans" cxnId="{AE675FEA-F12F-4E91-ABD2-B0A6EAB369DD}">
      <dgm:prSet/>
      <dgm:spPr/>
      <dgm:t>
        <a:bodyPr/>
        <a:lstStyle/>
        <a:p>
          <a:endParaRPr lang="en-US"/>
        </a:p>
      </dgm:t>
    </dgm:pt>
    <dgm:pt modelId="{46434306-62EF-49DA-A523-F2E99CA4D555}" type="sibTrans" cxnId="{AE675FEA-F12F-4E91-ABD2-B0A6EAB369DD}">
      <dgm:prSet/>
      <dgm:spPr/>
      <dgm:t>
        <a:bodyPr/>
        <a:lstStyle/>
        <a:p>
          <a:endParaRPr lang="en-US"/>
        </a:p>
      </dgm:t>
    </dgm:pt>
    <dgm:pt modelId="{9E20BAC0-FF17-4FA0-B699-3680835E5037}">
      <dgm:prSet/>
      <dgm:spPr/>
      <dgm:t>
        <a:bodyPr/>
        <a:lstStyle/>
        <a:p>
          <a:r>
            <a:rPr lang="ru-RU"/>
            <a:t>принцип безопасности. В системе будут храниться персональные данные клиентов и другая важная информация, поэтому необходимо обеспечить защиту этих данных от несанкционированного доступа.</a:t>
          </a:r>
          <a:endParaRPr lang="en-US"/>
        </a:p>
      </dgm:t>
    </dgm:pt>
    <dgm:pt modelId="{CC1F9939-88E1-48ED-9253-94CAD43D9FAD}" type="parTrans" cxnId="{DFDAE137-922F-4097-B132-E1C2D57A0DFC}">
      <dgm:prSet/>
      <dgm:spPr/>
      <dgm:t>
        <a:bodyPr/>
        <a:lstStyle/>
        <a:p>
          <a:endParaRPr lang="en-US"/>
        </a:p>
      </dgm:t>
    </dgm:pt>
    <dgm:pt modelId="{ADDC5E9F-2C11-4AAB-BA96-783C46478C65}" type="sibTrans" cxnId="{DFDAE137-922F-4097-B132-E1C2D57A0DFC}">
      <dgm:prSet/>
      <dgm:spPr/>
      <dgm:t>
        <a:bodyPr/>
        <a:lstStyle/>
        <a:p>
          <a:endParaRPr lang="en-US"/>
        </a:p>
      </dgm:t>
    </dgm:pt>
    <dgm:pt modelId="{F76DBD7B-5A7B-4340-A71B-958C4C2573F1}" type="pres">
      <dgm:prSet presAssocID="{86BE79D6-7969-40CC-BEFD-F842E7DBB8E7}" presName="linear" presStyleCnt="0">
        <dgm:presLayoutVars>
          <dgm:animLvl val="lvl"/>
          <dgm:resizeHandles val="exact"/>
        </dgm:presLayoutVars>
      </dgm:prSet>
      <dgm:spPr/>
    </dgm:pt>
    <dgm:pt modelId="{AB8F0247-9100-4257-A938-F3A83FC4288E}" type="pres">
      <dgm:prSet presAssocID="{D073E362-704B-436F-84D9-D45DF0C20A5B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CEFE0184-7022-4A80-8C1C-4107C34C82E8}" type="pres">
      <dgm:prSet presAssocID="{D1D52724-3F0C-446A-B889-765202A662C7}" presName="spacer" presStyleCnt="0"/>
      <dgm:spPr/>
    </dgm:pt>
    <dgm:pt modelId="{002C2A6A-622B-4A4B-9C78-4D5A39516FA7}" type="pres">
      <dgm:prSet presAssocID="{70B37751-6EA4-4DF5-B7B2-7B6F6796AA9B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1D4EA810-F3D7-44CC-9ED3-A1083B4471F9}" type="pres">
      <dgm:prSet presAssocID="{D42B0C4F-0AC1-4C57-9C82-1D534957FE04}" presName="spacer" presStyleCnt="0"/>
      <dgm:spPr/>
    </dgm:pt>
    <dgm:pt modelId="{574541CF-245C-4521-B5DE-7EB22139B3EE}" type="pres">
      <dgm:prSet presAssocID="{2C588C7B-F390-487E-B80B-2DD00A5B1E40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450CF8E4-2DFC-4866-89B3-A6C3C8FB39A5}" type="pres">
      <dgm:prSet presAssocID="{82357AAB-34D6-4FA6-8445-EDF943B85BB4}" presName="spacer" presStyleCnt="0"/>
      <dgm:spPr/>
    </dgm:pt>
    <dgm:pt modelId="{AF11966D-2091-430D-90FE-9A67D46E0929}" type="pres">
      <dgm:prSet presAssocID="{EB8142D1-F2B5-47B3-95BF-2DBEE3C3812C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0450F568-601A-4966-AA91-98D78A3690C7}" type="pres">
      <dgm:prSet presAssocID="{3EED3D39-D313-42CD-9D84-548FEA8992A6}" presName="spacer" presStyleCnt="0"/>
      <dgm:spPr/>
    </dgm:pt>
    <dgm:pt modelId="{71EEB1DD-24AF-4E63-A225-AE5CD0683698}" type="pres">
      <dgm:prSet presAssocID="{90BD5193-E742-4267-8AE9-C50FEA738583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6E116D68-7351-4F74-B4FB-CAD44E46CA9B}" type="pres">
      <dgm:prSet presAssocID="{87764227-4F43-49EA-A0BC-54DE7F555B45}" presName="spacer" presStyleCnt="0"/>
      <dgm:spPr/>
    </dgm:pt>
    <dgm:pt modelId="{C9C7BD1C-DAD6-48D2-8FA7-1940951E2F87}" type="pres">
      <dgm:prSet presAssocID="{3564E9D6-9441-4EB4-B610-B2D5A4AE0E69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49C6A50E-96CE-4BA5-909E-2479B28D025E}" type="pres">
      <dgm:prSet presAssocID="{9369B34D-D253-4B3A-998B-6875A3F337AB}" presName="spacer" presStyleCnt="0"/>
      <dgm:spPr/>
    </dgm:pt>
    <dgm:pt modelId="{17864581-FC56-4350-8D9B-DB7EAB3AE4BD}" type="pres">
      <dgm:prSet presAssocID="{E9470D51-4484-4FD3-A3C0-43789861807F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5231E349-2654-4A6F-9F6B-B07CC8EEC75C}" type="pres">
      <dgm:prSet presAssocID="{46434306-62EF-49DA-A523-F2E99CA4D555}" presName="spacer" presStyleCnt="0"/>
      <dgm:spPr/>
    </dgm:pt>
    <dgm:pt modelId="{69186204-7E9C-4D0F-9CC9-9BFA4BA7375F}" type="pres">
      <dgm:prSet presAssocID="{9E20BAC0-FF17-4FA0-B699-3680835E5037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19255E1B-79F0-44CE-A132-926950F419F9}" srcId="{86BE79D6-7969-40CC-BEFD-F842E7DBB8E7}" destId="{EB8142D1-F2B5-47B3-95BF-2DBEE3C3812C}" srcOrd="3" destOrd="0" parTransId="{5920CBC8-C3BC-4669-886A-DE200372420E}" sibTransId="{3EED3D39-D313-42CD-9D84-548FEA8992A6}"/>
    <dgm:cxn modelId="{DFDAE137-922F-4097-B132-E1C2D57A0DFC}" srcId="{86BE79D6-7969-40CC-BEFD-F842E7DBB8E7}" destId="{9E20BAC0-FF17-4FA0-B699-3680835E5037}" srcOrd="7" destOrd="0" parTransId="{CC1F9939-88E1-48ED-9253-94CAD43D9FAD}" sibTransId="{ADDC5E9F-2C11-4AAB-BA96-783C46478C65}"/>
    <dgm:cxn modelId="{2898CC3A-D69D-4B99-8275-7200DE14F47D}" type="presOf" srcId="{90BD5193-E742-4267-8AE9-C50FEA738583}" destId="{71EEB1DD-24AF-4E63-A225-AE5CD0683698}" srcOrd="0" destOrd="0" presId="urn:microsoft.com/office/officeart/2005/8/layout/vList2"/>
    <dgm:cxn modelId="{855BB380-2660-4358-AC2F-D6688ED52DA8}" type="presOf" srcId="{3564E9D6-9441-4EB4-B610-B2D5A4AE0E69}" destId="{C9C7BD1C-DAD6-48D2-8FA7-1940951E2F87}" srcOrd="0" destOrd="0" presId="urn:microsoft.com/office/officeart/2005/8/layout/vList2"/>
    <dgm:cxn modelId="{DE694F86-6CA4-4AE1-8CD8-9A040C44B55A}" type="presOf" srcId="{9E20BAC0-FF17-4FA0-B699-3680835E5037}" destId="{69186204-7E9C-4D0F-9CC9-9BFA4BA7375F}" srcOrd="0" destOrd="0" presId="urn:microsoft.com/office/officeart/2005/8/layout/vList2"/>
    <dgm:cxn modelId="{A72DF987-38CF-4D87-9544-0B25A90727BC}" srcId="{86BE79D6-7969-40CC-BEFD-F842E7DBB8E7}" destId="{3564E9D6-9441-4EB4-B610-B2D5A4AE0E69}" srcOrd="5" destOrd="0" parTransId="{2530392D-AFCA-45A9-B4DF-288EB2C59818}" sibTransId="{9369B34D-D253-4B3A-998B-6875A3F337AB}"/>
    <dgm:cxn modelId="{3EC7788B-F977-4CDD-B142-6E09F178C167}" srcId="{86BE79D6-7969-40CC-BEFD-F842E7DBB8E7}" destId="{70B37751-6EA4-4DF5-B7B2-7B6F6796AA9B}" srcOrd="1" destOrd="0" parTransId="{ADD23328-08EF-459A-8627-F5AB5182BEC7}" sibTransId="{D42B0C4F-0AC1-4C57-9C82-1D534957FE04}"/>
    <dgm:cxn modelId="{A814A49A-1190-443C-95A1-E61A6237F182}" srcId="{86BE79D6-7969-40CC-BEFD-F842E7DBB8E7}" destId="{90BD5193-E742-4267-8AE9-C50FEA738583}" srcOrd="4" destOrd="0" parTransId="{905504AC-BF28-4E9E-9676-BC47CA7111C0}" sibTransId="{87764227-4F43-49EA-A0BC-54DE7F555B45}"/>
    <dgm:cxn modelId="{C83568A5-F590-41A1-A0E4-494FBFC301E0}" type="presOf" srcId="{2C588C7B-F390-487E-B80B-2DD00A5B1E40}" destId="{574541CF-245C-4521-B5DE-7EB22139B3EE}" srcOrd="0" destOrd="0" presId="urn:microsoft.com/office/officeart/2005/8/layout/vList2"/>
    <dgm:cxn modelId="{D3F80EB3-3983-4434-9286-9AC69F697886}" type="presOf" srcId="{70B37751-6EA4-4DF5-B7B2-7B6F6796AA9B}" destId="{002C2A6A-622B-4A4B-9C78-4D5A39516FA7}" srcOrd="0" destOrd="0" presId="urn:microsoft.com/office/officeart/2005/8/layout/vList2"/>
    <dgm:cxn modelId="{085F4BB8-758E-4F7D-BD4A-62B7F26954BD}" type="presOf" srcId="{EB8142D1-F2B5-47B3-95BF-2DBEE3C3812C}" destId="{AF11966D-2091-430D-90FE-9A67D46E0929}" srcOrd="0" destOrd="0" presId="urn:microsoft.com/office/officeart/2005/8/layout/vList2"/>
    <dgm:cxn modelId="{630893CC-F798-4577-95A3-01F3AAE3E13F}" srcId="{86BE79D6-7969-40CC-BEFD-F842E7DBB8E7}" destId="{2C588C7B-F390-487E-B80B-2DD00A5B1E40}" srcOrd="2" destOrd="0" parTransId="{E2084404-FE5B-471A-8248-242CE9FCB49E}" sibTransId="{82357AAB-34D6-4FA6-8445-EDF943B85BB4}"/>
    <dgm:cxn modelId="{49D6A5CE-4984-41AF-B0E2-BA30864DD514}" type="presOf" srcId="{86BE79D6-7969-40CC-BEFD-F842E7DBB8E7}" destId="{F76DBD7B-5A7B-4340-A71B-958C4C2573F1}" srcOrd="0" destOrd="0" presId="urn:microsoft.com/office/officeart/2005/8/layout/vList2"/>
    <dgm:cxn modelId="{4E629CDF-F0CC-4187-B867-682BDF32728F}" type="presOf" srcId="{E9470D51-4484-4FD3-A3C0-43789861807F}" destId="{17864581-FC56-4350-8D9B-DB7EAB3AE4BD}" srcOrd="0" destOrd="0" presId="urn:microsoft.com/office/officeart/2005/8/layout/vList2"/>
    <dgm:cxn modelId="{AE675FEA-F12F-4E91-ABD2-B0A6EAB369DD}" srcId="{86BE79D6-7969-40CC-BEFD-F842E7DBB8E7}" destId="{E9470D51-4484-4FD3-A3C0-43789861807F}" srcOrd="6" destOrd="0" parTransId="{A2099046-F556-41AB-B29B-D5F9F18F8270}" sibTransId="{46434306-62EF-49DA-A523-F2E99CA4D555}"/>
    <dgm:cxn modelId="{BB6FB4EC-CB99-4281-9AA1-DB20839A21E2}" srcId="{86BE79D6-7969-40CC-BEFD-F842E7DBB8E7}" destId="{D073E362-704B-436F-84D9-D45DF0C20A5B}" srcOrd="0" destOrd="0" parTransId="{F32DBCC4-4316-4308-8D74-940EA7C43325}" sibTransId="{D1D52724-3F0C-446A-B889-765202A662C7}"/>
    <dgm:cxn modelId="{F57ADBF5-26BB-4FC9-8A94-702198728B2F}" type="presOf" srcId="{D073E362-704B-436F-84D9-D45DF0C20A5B}" destId="{AB8F0247-9100-4257-A938-F3A83FC4288E}" srcOrd="0" destOrd="0" presId="urn:microsoft.com/office/officeart/2005/8/layout/vList2"/>
    <dgm:cxn modelId="{FD71D359-EA5D-4270-9741-6306F97802AB}" type="presParOf" srcId="{F76DBD7B-5A7B-4340-A71B-958C4C2573F1}" destId="{AB8F0247-9100-4257-A938-F3A83FC4288E}" srcOrd="0" destOrd="0" presId="urn:microsoft.com/office/officeart/2005/8/layout/vList2"/>
    <dgm:cxn modelId="{51E115AA-DDBA-448D-9432-EF54751DC984}" type="presParOf" srcId="{F76DBD7B-5A7B-4340-A71B-958C4C2573F1}" destId="{CEFE0184-7022-4A80-8C1C-4107C34C82E8}" srcOrd="1" destOrd="0" presId="urn:microsoft.com/office/officeart/2005/8/layout/vList2"/>
    <dgm:cxn modelId="{AFCA93A0-DB1F-4BD0-BA59-844828E1FC6E}" type="presParOf" srcId="{F76DBD7B-5A7B-4340-A71B-958C4C2573F1}" destId="{002C2A6A-622B-4A4B-9C78-4D5A39516FA7}" srcOrd="2" destOrd="0" presId="urn:microsoft.com/office/officeart/2005/8/layout/vList2"/>
    <dgm:cxn modelId="{3A25DF71-F350-46C3-BA13-E4A14FFC4FEF}" type="presParOf" srcId="{F76DBD7B-5A7B-4340-A71B-958C4C2573F1}" destId="{1D4EA810-F3D7-44CC-9ED3-A1083B4471F9}" srcOrd="3" destOrd="0" presId="urn:microsoft.com/office/officeart/2005/8/layout/vList2"/>
    <dgm:cxn modelId="{345058F4-C875-4F93-8A65-0D76C3C15AFA}" type="presParOf" srcId="{F76DBD7B-5A7B-4340-A71B-958C4C2573F1}" destId="{574541CF-245C-4521-B5DE-7EB22139B3EE}" srcOrd="4" destOrd="0" presId="urn:microsoft.com/office/officeart/2005/8/layout/vList2"/>
    <dgm:cxn modelId="{896C9E8D-E0F7-47CB-A42B-4B6CB51D7D57}" type="presParOf" srcId="{F76DBD7B-5A7B-4340-A71B-958C4C2573F1}" destId="{450CF8E4-2DFC-4866-89B3-A6C3C8FB39A5}" srcOrd="5" destOrd="0" presId="urn:microsoft.com/office/officeart/2005/8/layout/vList2"/>
    <dgm:cxn modelId="{E950B81F-569D-4611-AC0F-F7FBC65237FC}" type="presParOf" srcId="{F76DBD7B-5A7B-4340-A71B-958C4C2573F1}" destId="{AF11966D-2091-430D-90FE-9A67D46E0929}" srcOrd="6" destOrd="0" presId="urn:microsoft.com/office/officeart/2005/8/layout/vList2"/>
    <dgm:cxn modelId="{2945C8D1-AA5F-4E9F-B112-4671080893E4}" type="presParOf" srcId="{F76DBD7B-5A7B-4340-A71B-958C4C2573F1}" destId="{0450F568-601A-4966-AA91-98D78A3690C7}" srcOrd="7" destOrd="0" presId="urn:microsoft.com/office/officeart/2005/8/layout/vList2"/>
    <dgm:cxn modelId="{E3E485AC-EBAF-4370-B3FB-4ED80EB8CD31}" type="presParOf" srcId="{F76DBD7B-5A7B-4340-A71B-958C4C2573F1}" destId="{71EEB1DD-24AF-4E63-A225-AE5CD0683698}" srcOrd="8" destOrd="0" presId="urn:microsoft.com/office/officeart/2005/8/layout/vList2"/>
    <dgm:cxn modelId="{340DCD75-70B0-48AE-970D-AD9632DE2F81}" type="presParOf" srcId="{F76DBD7B-5A7B-4340-A71B-958C4C2573F1}" destId="{6E116D68-7351-4F74-B4FB-CAD44E46CA9B}" srcOrd="9" destOrd="0" presId="urn:microsoft.com/office/officeart/2005/8/layout/vList2"/>
    <dgm:cxn modelId="{DFEB8015-8E33-4341-AF4B-C069A42B8EB8}" type="presParOf" srcId="{F76DBD7B-5A7B-4340-A71B-958C4C2573F1}" destId="{C9C7BD1C-DAD6-48D2-8FA7-1940951E2F87}" srcOrd="10" destOrd="0" presId="urn:microsoft.com/office/officeart/2005/8/layout/vList2"/>
    <dgm:cxn modelId="{49267B8D-1267-4E72-9753-C4AFD521CB97}" type="presParOf" srcId="{F76DBD7B-5A7B-4340-A71B-958C4C2573F1}" destId="{49C6A50E-96CE-4BA5-909E-2479B28D025E}" srcOrd="11" destOrd="0" presId="urn:microsoft.com/office/officeart/2005/8/layout/vList2"/>
    <dgm:cxn modelId="{8C278E77-C6D3-4489-9A19-143FA8402717}" type="presParOf" srcId="{F76DBD7B-5A7B-4340-A71B-958C4C2573F1}" destId="{17864581-FC56-4350-8D9B-DB7EAB3AE4BD}" srcOrd="12" destOrd="0" presId="urn:microsoft.com/office/officeart/2005/8/layout/vList2"/>
    <dgm:cxn modelId="{ED1D7A35-01CC-44BA-924B-AB42F74B3A1E}" type="presParOf" srcId="{F76DBD7B-5A7B-4340-A71B-958C4C2573F1}" destId="{5231E349-2654-4A6F-9F6B-B07CC8EEC75C}" srcOrd="13" destOrd="0" presId="urn:microsoft.com/office/officeart/2005/8/layout/vList2"/>
    <dgm:cxn modelId="{45023838-24C8-41C1-9D8D-7E1F2E9E8541}" type="presParOf" srcId="{F76DBD7B-5A7B-4340-A71B-958C4C2573F1}" destId="{69186204-7E9C-4D0F-9CC9-9BFA4BA7375F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0FE8244-308E-4D01-A8FB-3481171D1C81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7F6EA02-BD5E-4678-ADA9-4852D7E6358B}">
      <dgm:prSet/>
      <dgm:spPr/>
      <dgm:t>
        <a:bodyPr/>
        <a:lstStyle/>
        <a:p>
          <a:r>
            <a:rPr lang="ru-RU"/>
            <a:t>Основной целевой аудиторией системы являются сотрудники гостиницы для животных, которые непосредственно занимаются оформлением заявок, регистрацией клиентов и их питомцев, а также контролем размещения животных</a:t>
          </a:r>
          <a:endParaRPr lang="en-US"/>
        </a:p>
      </dgm:t>
    </dgm:pt>
    <dgm:pt modelId="{E71002F7-E143-4023-8BE9-9DF97948382D}" type="parTrans" cxnId="{9051F52E-E8EE-4959-B692-D3FEA83E3DBB}">
      <dgm:prSet/>
      <dgm:spPr/>
      <dgm:t>
        <a:bodyPr/>
        <a:lstStyle/>
        <a:p>
          <a:endParaRPr lang="en-US"/>
        </a:p>
      </dgm:t>
    </dgm:pt>
    <dgm:pt modelId="{0E0413BF-C71E-440B-AD37-86C17B16A30A}" type="sibTrans" cxnId="{9051F52E-E8EE-4959-B692-D3FEA83E3DBB}">
      <dgm:prSet/>
      <dgm:spPr/>
      <dgm:t>
        <a:bodyPr/>
        <a:lstStyle/>
        <a:p>
          <a:endParaRPr lang="en-US"/>
        </a:p>
      </dgm:t>
    </dgm:pt>
    <dgm:pt modelId="{99EFA82F-2B87-4BAA-BB30-C2075DB0B4A9}">
      <dgm:prSet/>
      <dgm:spPr/>
      <dgm:t>
        <a:bodyPr/>
        <a:lstStyle/>
        <a:p>
          <a:r>
            <a:rPr lang="ru-RU"/>
            <a:t>Еще одной важной группой пользователей системы является администрация гостиницы</a:t>
          </a:r>
          <a:endParaRPr lang="en-US"/>
        </a:p>
      </dgm:t>
    </dgm:pt>
    <dgm:pt modelId="{691B062C-0FD3-41AA-B5B2-B8FA12172C09}" type="parTrans" cxnId="{51D6009F-6863-40BD-A9FF-4E1D240AC341}">
      <dgm:prSet/>
      <dgm:spPr/>
      <dgm:t>
        <a:bodyPr/>
        <a:lstStyle/>
        <a:p>
          <a:endParaRPr lang="en-US"/>
        </a:p>
      </dgm:t>
    </dgm:pt>
    <dgm:pt modelId="{8C0FA922-AA10-4FF3-A2C5-1F830D787A29}" type="sibTrans" cxnId="{51D6009F-6863-40BD-A9FF-4E1D240AC341}">
      <dgm:prSet/>
      <dgm:spPr/>
      <dgm:t>
        <a:bodyPr/>
        <a:lstStyle/>
        <a:p>
          <a:endParaRPr lang="en-US"/>
        </a:p>
      </dgm:t>
    </dgm:pt>
    <dgm:pt modelId="{1875E89A-B5DB-4C6C-A09D-7EB9030D18D8}" type="pres">
      <dgm:prSet presAssocID="{E0FE8244-308E-4D01-A8FB-3481171D1C81}" presName="linear" presStyleCnt="0">
        <dgm:presLayoutVars>
          <dgm:animLvl val="lvl"/>
          <dgm:resizeHandles val="exact"/>
        </dgm:presLayoutVars>
      </dgm:prSet>
      <dgm:spPr/>
    </dgm:pt>
    <dgm:pt modelId="{376A8292-6D2B-40E4-8033-29EFA6141DF0}" type="pres">
      <dgm:prSet presAssocID="{A7F6EA02-BD5E-4678-ADA9-4852D7E6358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A0A1E86-11A6-42D4-BECF-838B44272A50}" type="pres">
      <dgm:prSet presAssocID="{0E0413BF-C71E-440B-AD37-86C17B16A30A}" presName="spacer" presStyleCnt="0"/>
      <dgm:spPr/>
    </dgm:pt>
    <dgm:pt modelId="{BA5726F6-1C76-4A55-B00C-D5C43647A835}" type="pres">
      <dgm:prSet presAssocID="{99EFA82F-2B87-4BAA-BB30-C2075DB0B4A9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BA64102E-813B-4180-9424-05F266049618}" type="presOf" srcId="{E0FE8244-308E-4D01-A8FB-3481171D1C81}" destId="{1875E89A-B5DB-4C6C-A09D-7EB9030D18D8}" srcOrd="0" destOrd="0" presId="urn:microsoft.com/office/officeart/2005/8/layout/vList2"/>
    <dgm:cxn modelId="{9051F52E-E8EE-4959-B692-D3FEA83E3DBB}" srcId="{E0FE8244-308E-4D01-A8FB-3481171D1C81}" destId="{A7F6EA02-BD5E-4678-ADA9-4852D7E6358B}" srcOrd="0" destOrd="0" parTransId="{E71002F7-E143-4023-8BE9-9DF97948382D}" sibTransId="{0E0413BF-C71E-440B-AD37-86C17B16A30A}"/>
    <dgm:cxn modelId="{0C00A197-DE97-4DF4-877F-8E2211A17A2D}" type="presOf" srcId="{99EFA82F-2B87-4BAA-BB30-C2075DB0B4A9}" destId="{BA5726F6-1C76-4A55-B00C-D5C43647A835}" srcOrd="0" destOrd="0" presId="urn:microsoft.com/office/officeart/2005/8/layout/vList2"/>
    <dgm:cxn modelId="{51D6009F-6863-40BD-A9FF-4E1D240AC341}" srcId="{E0FE8244-308E-4D01-A8FB-3481171D1C81}" destId="{99EFA82F-2B87-4BAA-BB30-C2075DB0B4A9}" srcOrd="1" destOrd="0" parTransId="{691B062C-0FD3-41AA-B5B2-B8FA12172C09}" sibTransId="{8C0FA922-AA10-4FF3-A2C5-1F830D787A29}"/>
    <dgm:cxn modelId="{FB8DD3A6-95AA-46DD-ADBA-27EBA5C931F0}" type="presOf" srcId="{A7F6EA02-BD5E-4678-ADA9-4852D7E6358B}" destId="{376A8292-6D2B-40E4-8033-29EFA6141DF0}" srcOrd="0" destOrd="0" presId="urn:microsoft.com/office/officeart/2005/8/layout/vList2"/>
    <dgm:cxn modelId="{A149FA71-766D-4B87-9389-5A7AC127E40A}" type="presParOf" srcId="{1875E89A-B5DB-4C6C-A09D-7EB9030D18D8}" destId="{376A8292-6D2B-40E4-8033-29EFA6141DF0}" srcOrd="0" destOrd="0" presId="urn:microsoft.com/office/officeart/2005/8/layout/vList2"/>
    <dgm:cxn modelId="{C6B18287-9AE5-4D6B-AD0C-BD52CC151DBF}" type="presParOf" srcId="{1875E89A-B5DB-4C6C-A09D-7EB9030D18D8}" destId="{CA0A1E86-11A6-42D4-BECF-838B44272A50}" srcOrd="1" destOrd="0" presId="urn:microsoft.com/office/officeart/2005/8/layout/vList2"/>
    <dgm:cxn modelId="{2FB78B57-D069-4EA8-AA8E-995DB5EB8A4F}" type="presParOf" srcId="{1875E89A-B5DB-4C6C-A09D-7EB9030D18D8}" destId="{BA5726F6-1C76-4A55-B00C-D5C43647A835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FD4CA53-275A-4764-8F78-0D36F5BBBDC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CD52899-918D-4C32-BD7A-B8A58C67A677}">
      <dgm:prSet/>
      <dgm:spPr/>
      <dgm:t>
        <a:bodyPr/>
        <a:lstStyle/>
        <a:p>
          <a:r>
            <a:rPr lang="ru-RU"/>
            <a:t>Конечный продукт дипломной работы представляет собой информационную систему для автоматизации деятельности гостиницы для животных. </a:t>
          </a:r>
          <a:endParaRPr lang="en-US"/>
        </a:p>
      </dgm:t>
    </dgm:pt>
    <dgm:pt modelId="{A95AFECE-C340-4136-A305-703637CBCE21}" type="parTrans" cxnId="{0474BE56-563E-47BE-9D5E-75D80CFED0D8}">
      <dgm:prSet/>
      <dgm:spPr/>
      <dgm:t>
        <a:bodyPr/>
        <a:lstStyle/>
        <a:p>
          <a:endParaRPr lang="en-US"/>
        </a:p>
      </dgm:t>
    </dgm:pt>
    <dgm:pt modelId="{50715502-1033-47BB-8796-46BA3DD6B7DB}" type="sibTrans" cxnId="{0474BE56-563E-47BE-9D5E-75D80CFED0D8}">
      <dgm:prSet/>
      <dgm:spPr/>
      <dgm:t>
        <a:bodyPr/>
        <a:lstStyle/>
        <a:p>
          <a:endParaRPr lang="en-US"/>
        </a:p>
      </dgm:t>
    </dgm:pt>
    <dgm:pt modelId="{C49B891C-1903-44A0-B4F0-5468EDD98169}">
      <dgm:prSet/>
      <dgm:spPr/>
      <dgm:t>
        <a:bodyPr/>
        <a:lstStyle/>
        <a:p>
          <a:r>
            <a:rPr lang="ru-RU"/>
            <a:t>Ниже представлено подробное описание структуры конечного продукта, разделенное на основные компоненты:</a:t>
          </a:r>
          <a:endParaRPr lang="en-US"/>
        </a:p>
      </dgm:t>
    </dgm:pt>
    <dgm:pt modelId="{E331DE67-0FF8-4DDE-9B04-575B5C006DA1}" type="parTrans" cxnId="{F0833506-CB76-4D48-8867-82C8987177D7}">
      <dgm:prSet/>
      <dgm:spPr/>
      <dgm:t>
        <a:bodyPr/>
        <a:lstStyle/>
        <a:p>
          <a:endParaRPr lang="en-US"/>
        </a:p>
      </dgm:t>
    </dgm:pt>
    <dgm:pt modelId="{5B4FE800-3F3F-46F4-81DE-A40112E625D3}" type="sibTrans" cxnId="{F0833506-CB76-4D48-8867-82C8987177D7}">
      <dgm:prSet/>
      <dgm:spPr/>
      <dgm:t>
        <a:bodyPr/>
        <a:lstStyle/>
        <a:p>
          <a:endParaRPr lang="en-US"/>
        </a:p>
      </dgm:t>
    </dgm:pt>
    <dgm:pt modelId="{A715E808-7581-4DC9-A68E-DDC4CA8CDCD1}">
      <dgm:prSet/>
      <dgm:spPr/>
      <dgm:t>
        <a:bodyPr/>
        <a:lstStyle/>
        <a:p>
          <a:r>
            <a:rPr lang="ru-RU"/>
            <a:t>1. Пользовательский интерфейс (Frontend)</a:t>
          </a:r>
          <a:endParaRPr lang="en-US"/>
        </a:p>
      </dgm:t>
    </dgm:pt>
    <dgm:pt modelId="{1F3D58A1-5D2E-4932-BF04-BA3F1335BFAB}" type="parTrans" cxnId="{2FD8BB90-FFB6-40B3-8273-DF9F5411E84B}">
      <dgm:prSet/>
      <dgm:spPr/>
      <dgm:t>
        <a:bodyPr/>
        <a:lstStyle/>
        <a:p>
          <a:endParaRPr lang="en-US"/>
        </a:p>
      </dgm:t>
    </dgm:pt>
    <dgm:pt modelId="{A7C60E8D-8F9B-47A2-9AF7-48CDD71A6F18}" type="sibTrans" cxnId="{2FD8BB90-FFB6-40B3-8273-DF9F5411E84B}">
      <dgm:prSet/>
      <dgm:spPr/>
      <dgm:t>
        <a:bodyPr/>
        <a:lstStyle/>
        <a:p>
          <a:endParaRPr lang="en-US"/>
        </a:p>
      </dgm:t>
    </dgm:pt>
    <dgm:pt modelId="{E8B2B1B2-789A-4E65-BB23-0F7411D8CF0D}">
      <dgm:prSet/>
      <dgm:spPr/>
      <dgm:t>
        <a:bodyPr/>
        <a:lstStyle/>
        <a:p>
          <a:r>
            <a:rPr lang="ru-RU"/>
            <a:t>Пользовательский интерфейс является связующим звеном между системой и ее пользователями.</a:t>
          </a:r>
          <a:endParaRPr lang="en-US"/>
        </a:p>
      </dgm:t>
    </dgm:pt>
    <dgm:pt modelId="{D4B0DBFF-8DFF-42BE-95AC-1DDAD584A486}" type="parTrans" cxnId="{7CE032EF-B673-4575-BF11-C8D05432CB10}">
      <dgm:prSet/>
      <dgm:spPr/>
      <dgm:t>
        <a:bodyPr/>
        <a:lstStyle/>
        <a:p>
          <a:endParaRPr lang="en-US"/>
        </a:p>
      </dgm:t>
    </dgm:pt>
    <dgm:pt modelId="{8C97BC3B-71FC-4663-8998-34A5377F3665}" type="sibTrans" cxnId="{7CE032EF-B673-4575-BF11-C8D05432CB10}">
      <dgm:prSet/>
      <dgm:spPr/>
      <dgm:t>
        <a:bodyPr/>
        <a:lstStyle/>
        <a:p>
          <a:endParaRPr lang="en-US"/>
        </a:p>
      </dgm:t>
    </dgm:pt>
    <dgm:pt modelId="{CC3EBE18-C5E9-4401-8C4F-14CC0B832F09}">
      <dgm:prSet/>
      <dgm:spPr/>
      <dgm:t>
        <a:bodyPr/>
        <a:lstStyle/>
        <a:p>
          <a:r>
            <a:rPr lang="ru-RU"/>
            <a:t>2. Логический слой (Backend)</a:t>
          </a:r>
          <a:endParaRPr lang="en-US"/>
        </a:p>
      </dgm:t>
    </dgm:pt>
    <dgm:pt modelId="{FA2B970B-6460-4837-B89B-1EDB8886632A}" type="parTrans" cxnId="{0A4CB764-E29C-43AD-BAE7-8302255DCD22}">
      <dgm:prSet/>
      <dgm:spPr/>
      <dgm:t>
        <a:bodyPr/>
        <a:lstStyle/>
        <a:p>
          <a:endParaRPr lang="en-US"/>
        </a:p>
      </dgm:t>
    </dgm:pt>
    <dgm:pt modelId="{397E329E-7102-41BB-A517-778F63B9833D}" type="sibTrans" cxnId="{0A4CB764-E29C-43AD-BAE7-8302255DCD22}">
      <dgm:prSet/>
      <dgm:spPr/>
      <dgm:t>
        <a:bodyPr/>
        <a:lstStyle/>
        <a:p>
          <a:endParaRPr lang="en-US"/>
        </a:p>
      </dgm:t>
    </dgm:pt>
    <dgm:pt modelId="{9478F281-BAFB-4D6A-BD04-9AD267446514}">
      <dgm:prSet/>
      <dgm:spPr/>
      <dgm:t>
        <a:bodyPr/>
        <a:lstStyle/>
        <a:p>
          <a:r>
            <a:rPr lang="ru-RU"/>
            <a:t>Логический слой отвечает за обработку данных, выполнение бизнес-логики и взаимодействие между пользовательским интерфейсом и базой данных.</a:t>
          </a:r>
          <a:endParaRPr lang="en-US"/>
        </a:p>
      </dgm:t>
    </dgm:pt>
    <dgm:pt modelId="{7DD88B5C-6359-4C87-88AC-0D3EEC243E56}" type="parTrans" cxnId="{03B3C567-C81E-4E14-ADEF-777B31769770}">
      <dgm:prSet/>
      <dgm:spPr/>
      <dgm:t>
        <a:bodyPr/>
        <a:lstStyle/>
        <a:p>
          <a:endParaRPr lang="en-US"/>
        </a:p>
      </dgm:t>
    </dgm:pt>
    <dgm:pt modelId="{4E957699-A81C-4A91-82F3-BC599A3167D2}" type="sibTrans" cxnId="{03B3C567-C81E-4E14-ADEF-777B31769770}">
      <dgm:prSet/>
      <dgm:spPr/>
      <dgm:t>
        <a:bodyPr/>
        <a:lstStyle/>
        <a:p>
          <a:endParaRPr lang="en-US"/>
        </a:p>
      </dgm:t>
    </dgm:pt>
    <dgm:pt modelId="{68475A19-934C-43AB-BE2D-1A88D4A2FE3D}">
      <dgm:prSet/>
      <dgm:spPr/>
      <dgm:t>
        <a:bodyPr/>
        <a:lstStyle/>
        <a:p>
          <a:r>
            <a:rPr lang="ru-RU"/>
            <a:t>3. База данных (Database)</a:t>
          </a:r>
          <a:endParaRPr lang="en-US"/>
        </a:p>
      </dgm:t>
    </dgm:pt>
    <dgm:pt modelId="{B98110DF-F9FE-45C0-9B19-7FC8A707B89D}" type="parTrans" cxnId="{C276480D-817C-405D-87BD-F6E957769856}">
      <dgm:prSet/>
      <dgm:spPr/>
      <dgm:t>
        <a:bodyPr/>
        <a:lstStyle/>
        <a:p>
          <a:endParaRPr lang="en-US"/>
        </a:p>
      </dgm:t>
    </dgm:pt>
    <dgm:pt modelId="{E1DABD29-DE22-41A7-8426-754CC8596455}" type="sibTrans" cxnId="{C276480D-817C-405D-87BD-F6E957769856}">
      <dgm:prSet/>
      <dgm:spPr/>
      <dgm:t>
        <a:bodyPr/>
        <a:lstStyle/>
        <a:p>
          <a:endParaRPr lang="en-US"/>
        </a:p>
      </dgm:t>
    </dgm:pt>
    <dgm:pt modelId="{6C85BE0C-0E32-4D28-842C-2B41C64E09C1}">
      <dgm:prSet/>
      <dgm:spPr/>
      <dgm:t>
        <a:bodyPr/>
        <a:lstStyle/>
        <a:p>
          <a:r>
            <a:rPr lang="ru-RU"/>
            <a:t>База данных является основой хранения информации в системе. Она обеспечивает целостность данных, безопасность и возможность быстрого доступа.</a:t>
          </a:r>
          <a:endParaRPr lang="en-US"/>
        </a:p>
      </dgm:t>
    </dgm:pt>
    <dgm:pt modelId="{DB9C9E68-C9E2-46E9-8A4B-DC940DCE63BE}" type="parTrans" cxnId="{13D7CB4E-9888-45A2-8FEC-B152E71C5045}">
      <dgm:prSet/>
      <dgm:spPr/>
      <dgm:t>
        <a:bodyPr/>
        <a:lstStyle/>
        <a:p>
          <a:endParaRPr lang="en-US"/>
        </a:p>
      </dgm:t>
    </dgm:pt>
    <dgm:pt modelId="{75899F36-A9F9-4A97-A2D7-067D6B87C798}" type="sibTrans" cxnId="{13D7CB4E-9888-45A2-8FEC-B152E71C5045}">
      <dgm:prSet/>
      <dgm:spPr/>
      <dgm:t>
        <a:bodyPr/>
        <a:lstStyle/>
        <a:p>
          <a:endParaRPr lang="en-US"/>
        </a:p>
      </dgm:t>
    </dgm:pt>
    <dgm:pt modelId="{815A6A87-CB2F-4D53-BE20-BC80D9767F4F}" type="pres">
      <dgm:prSet presAssocID="{EFD4CA53-275A-4764-8F78-0D36F5BBBDC0}" presName="linear" presStyleCnt="0">
        <dgm:presLayoutVars>
          <dgm:animLvl val="lvl"/>
          <dgm:resizeHandles val="exact"/>
        </dgm:presLayoutVars>
      </dgm:prSet>
      <dgm:spPr/>
    </dgm:pt>
    <dgm:pt modelId="{6CF79E73-445F-4A6C-B343-B34580844AD1}" type="pres">
      <dgm:prSet presAssocID="{0CD52899-918D-4C32-BD7A-B8A58C67A677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B3BB8D98-6B2E-4EED-A0AE-F1539D35B845}" type="pres">
      <dgm:prSet presAssocID="{0CD52899-918D-4C32-BD7A-B8A58C67A677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F0833506-CB76-4D48-8867-82C8987177D7}" srcId="{0CD52899-918D-4C32-BD7A-B8A58C67A677}" destId="{C49B891C-1903-44A0-B4F0-5468EDD98169}" srcOrd="0" destOrd="0" parTransId="{E331DE67-0FF8-4DDE-9B04-575B5C006DA1}" sibTransId="{5B4FE800-3F3F-46F4-81DE-A40112E625D3}"/>
    <dgm:cxn modelId="{C276480D-817C-405D-87BD-F6E957769856}" srcId="{0CD52899-918D-4C32-BD7A-B8A58C67A677}" destId="{68475A19-934C-43AB-BE2D-1A88D4A2FE3D}" srcOrd="5" destOrd="0" parTransId="{B98110DF-F9FE-45C0-9B19-7FC8A707B89D}" sibTransId="{E1DABD29-DE22-41A7-8426-754CC8596455}"/>
    <dgm:cxn modelId="{9004CA10-4C31-4C2A-8A46-97D0A4887F95}" type="presOf" srcId="{A715E808-7581-4DC9-A68E-DDC4CA8CDCD1}" destId="{B3BB8D98-6B2E-4EED-A0AE-F1539D35B845}" srcOrd="0" destOrd="1" presId="urn:microsoft.com/office/officeart/2005/8/layout/vList2"/>
    <dgm:cxn modelId="{A07A5118-D38B-4BA8-8AE1-571C94E94B80}" type="presOf" srcId="{9478F281-BAFB-4D6A-BD04-9AD267446514}" destId="{B3BB8D98-6B2E-4EED-A0AE-F1539D35B845}" srcOrd="0" destOrd="4" presId="urn:microsoft.com/office/officeart/2005/8/layout/vList2"/>
    <dgm:cxn modelId="{0A4CB764-E29C-43AD-BAE7-8302255DCD22}" srcId="{0CD52899-918D-4C32-BD7A-B8A58C67A677}" destId="{CC3EBE18-C5E9-4401-8C4F-14CC0B832F09}" srcOrd="3" destOrd="0" parTransId="{FA2B970B-6460-4837-B89B-1EDB8886632A}" sibTransId="{397E329E-7102-41BB-A517-778F63B9833D}"/>
    <dgm:cxn modelId="{03B3C567-C81E-4E14-ADEF-777B31769770}" srcId="{0CD52899-918D-4C32-BD7A-B8A58C67A677}" destId="{9478F281-BAFB-4D6A-BD04-9AD267446514}" srcOrd="4" destOrd="0" parTransId="{7DD88B5C-6359-4C87-88AC-0D3EEC243E56}" sibTransId="{4E957699-A81C-4A91-82F3-BC599A3167D2}"/>
    <dgm:cxn modelId="{3BA30D4C-F5C2-4B58-A0FF-7019E8A01F26}" type="presOf" srcId="{C49B891C-1903-44A0-B4F0-5468EDD98169}" destId="{B3BB8D98-6B2E-4EED-A0AE-F1539D35B845}" srcOrd="0" destOrd="0" presId="urn:microsoft.com/office/officeart/2005/8/layout/vList2"/>
    <dgm:cxn modelId="{13D7CB4E-9888-45A2-8FEC-B152E71C5045}" srcId="{0CD52899-918D-4C32-BD7A-B8A58C67A677}" destId="{6C85BE0C-0E32-4D28-842C-2B41C64E09C1}" srcOrd="6" destOrd="0" parTransId="{DB9C9E68-C9E2-46E9-8A4B-DC940DCE63BE}" sibTransId="{75899F36-A9F9-4A97-A2D7-067D6B87C798}"/>
    <dgm:cxn modelId="{0474BE56-563E-47BE-9D5E-75D80CFED0D8}" srcId="{EFD4CA53-275A-4764-8F78-0D36F5BBBDC0}" destId="{0CD52899-918D-4C32-BD7A-B8A58C67A677}" srcOrd="0" destOrd="0" parTransId="{A95AFECE-C340-4136-A305-703637CBCE21}" sibTransId="{50715502-1033-47BB-8796-46BA3DD6B7DB}"/>
    <dgm:cxn modelId="{2FD8BB90-FFB6-40B3-8273-DF9F5411E84B}" srcId="{0CD52899-918D-4C32-BD7A-B8A58C67A677}" destId="{A715E808-7581-4DC9-A68E-DDC4CA8CDCD1}" srcOrd="1" destOrd="0" parTransId="{1F3D58A1-5D2E-4932-BF04-BA3F1335BFAB}" sibTransId="{A7C60E8D-8F9B-47A2-9AF7-48CDD71A6F18}"/>
    <dgm:cxn modelId="{29B40DA9-22B5-4214-B503-E72C9A351539}" type="presOf" srcId="{0CD52899-918D-4C32-BD7A-B8A58C67A677}" destId="{6CF79E73-445F-4A6C-B343-B34580844AD1}" srcOrd="0" destOrd="0" presId="urn:microsoft.com/office/officeart/2005/8/layout/vList2"/>
    <dgm:cxn modelId="{87F98EB7-33B6-41DF-9C18-52BCE72E8F36}" type="presOf" srcId="{EFD4CA53-275A-4764-8F78-0D36F5BBBDC0}" destId="{815A6A87-CB2F-4D53-BE20-BC80D9767F4F}" srcOrd="0" destOrd="0" presId="urn:microsoft.com/office/officeart/2005/8/layout/vList2"/>
    <dgm:cxn modelId="{A74734D0-31F1-40A1-92F1-7B37C8F5DF21}" type="presOf" srcId="{E8B2B1B2-789A-4E65-BB23-0F7411D8CF0D}" destId="{B3BB8D98-6B2E-4EED-A0AE-F1539D35B845}" srcOrd="0" destOrd="2" presId="urn:microsoft.com/office/officeart/2005/8/layout/vList2"/>
    <dgm:cxn modelId="{B58DB8D5-51BD-4CBA-A954-ACB6F31B7937}" type="presOf" srcId="{68475A19-934C-43AB-BE2D-1A88D4A2FE3D}" destId="{B3BB8D98-6B2E-4EED-A0AE-F1539D35B845}" srcOrd="0" destOrd="5" presId="urn:microsoft.com/office/officeart/2005/8/layout/vList2"/>
    <dgm:cxn modelId="{2DB54FE0-F979-44D5-AB47-F3098780F8FD}" type="presOf" srcId="{CC3EBE18-C5E9-4401-8C4F-14CC0B832F09}" destId="{B3BB8D98-6B2E-4EED-A0AE-F1539D35B845}" srcOrd="0" destOrd="3" presId="urn:microsoft.com/office/officeart/2005/8/layout/vList2"/>
    <dgm:cxn modelId="{20A694EE-FE1A-408E-8C14-764B02A01B97}" type="presOf" srcId="{6C85BE0C-0E32-4D28-842C-2B41C64E09C1}" destId="{B3BB8D98-6B2E-4EED-A0AE-F1539D35B845}" srcOrd="0" destOrd="6" presId="urn:microsoft.com/office/officeart/2005/8/layout/vList2"/>
    <dgm:cxn modelId="{7CE032EF-B673-4575-BF11-C8D05432CB10}" srcId="{0CD52899-918D-4C32-BD7A-B8A58C67A677}" destId="{E8B2B1B2-789A-4E65-BB23-0F7411D8CF0D}" srcOrd="2" destOrd="0" parTransId="{D4B0DBFF-8DFF-42BE-95AC-1DDAD584A486}" sibTransId="{8C97BC3B-71FC-4663-8998-34A5377F3665}"/>
    <dgm:cxn modelId="{F0A26AD2-0957-4D18-A114-3907A6585302}" type="presParOf" srcId="{815A6A87-CB2F-4D53-BE20-BC80D9767F4F}" destId="{6CF79E73-445F-4A6C-B343-B34580844AD1}" srcOrd="0" destOrd="0" presId="urn:microsoft.com/office/officeart/2005/8/layout/vList2"/>
    <dgm:cxn modelId="{D718FC05-83D0-49A4-B368-533E0C10B936}" type="presParOf" srcId="{815A6A87-CB2F-4D53-BE20-BC80D9767F4F}" destId="{B3BB8D98-6B2E-4EED-A0AE-F1539D35B845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DB8595A-619A-4D28-9F3A-437A4B478148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203C747-C6C3-4188-8A63-0868F8B4C7D5}">
      <dgm:prSet/>
      <dgm:spPr/>
      <dgm:t>
        <a:bodyPr/>
        <a:lstStyle/>
        <a:p>
          <a:r>
            <a:rPr lang="ru-RU" dirty="0"/>
            <a:t>Для разработки информационной системы гостиницы для животных были выбраны языки программирования Python, HTML, CSS и Java. </a:t>
          </a:r>
          <a:endParaRPr lang="en-US" dirty="0"/>
        </a:p>
      </dgm:t>
    </dgm:pt>
    <dgm:pt modelId="{FBCFF45F-45DC-4E91-AC6A-6ABA6682C7F7}" type="parTrans" cxnId="{57F1C4B8-B75D-4944-B992-E6E414E3DE6D}">
      <dgm:prSet/>
      <dgm:spPr/>
      <dgm:t>
        <a:bodyPr/>
        <a:lstStyle/>
        <a:p>
          <a:endParaRPr lang="en-US"/>
        </a:p>
      </dgm:t>
    </dgm:pt>
    <dgm:pt modelId="{CF2F7474-9718-43A1-9434-F4B5801BD1B3}" type="sibTrans" cxnId="{57F1C4B8-B75D-4944-B992-E6E414E3DE6D}">
      <dgm:prSet/>
      <dgm:spPr/>
      <dgm:t>
        <a:bodyPr/>
        <a:lstStyle/>
        <a:p>
          <a:endParaRPr lang="en-US"/>
        </a:p>
      </dgm:t>
    </dgm:pt>
    <dgm:pt modelId="{08C32649-54E4-4E22-AD16-B262E03CB1EF}">
      <dgm:prSet/>
      <dgm:spPr/>
      <dgm:t>
        <a:bodyPr/>
        <a:lstStyle/>
        <a:p>
          <a:r>
            <a:rPr lang="ru-RU"/>
            <a:t>Python был выбран в качестве основного языка для серверной части системы.</a:t>
          </a:r>
          <a:endParaRPr lang="en-US"/>
        </a:p>
      </dgm:t>
    </dgm:pt>
    <dgm:pt modelId="{F05C888E-856E-4017-BF76-CF3DBC8975EF}" type="parTrans" cxnId="{EE4A4147-9A57-40B2-916A-F0040898C602}">
      <dgm:prSet/>
      <dgm:spPr/>
      <dgm:t>
        <a:bodyPr/>
        <a:lstStyle/>
        <a:p>
          <a:endParaRPr lang="en-US"/>
        </a:p>
      </dgm:t>
    </dgm:pt>
    <dgm:pt modelId="{6B8E744A-5CDE-4049-8DF5-E31B22F71C9B}" type="sibTrans" cxnId="{EE4A4147-9A57-40B2-916A-F0040898C602}">
      <dgm:prSet/>
      <dgm:spPr/>
      <dgm:t>
        <a:bodyPr/>
        <a:lstStyle/>
        <a:p>
          <a:endParaRPr lang="en-US"/>
        </a:p>
      </dgm:t>
    </dgm:pt>
    <dgm:pt modelId="{3CAC0BEF-EB5C-4116-A0A3-B24F6C608317}">
      <dgm:prSet/>
      <dgm:spPr/>
      <dgm:t>
        <a:bodyPr/>
        <a:lstStyle/>
        <a:p>
          <a:r>
            <a:rPr lang="ru-RU"/>
            <a:t>HTML используется для формирования структуры веб-страниц информационной системы</a:t>
          </a:r>
          <a:endParaRPr lang="en-US"/>
        </a:p>
      </dgm:t>
    </dgm:pt>
    <dgm:pt modelId="{4752FB70-924D-4B54-AACE-AF4659314B72}" type="parTrans" cxnId="{E04CE5DF-1E4B-444A-8185-98EEA420A741}">
      <dgm:prSet/>
      <dgm:spPr/>
      <dgm:t>
        <a:bodyPr/>
        <a:lstStyle/>
        <a:p>
          <a:endParaRPr lang="en-US"/>
        </a:p>
      </dgm:t>
    </dgm:pt>
    <dgm:pt modelId="{D430B7C3-7D97-4B1C-A779-78363482C92F}" type="sibTrans" cxnId="{E04CE5DF-1E4B-444A-8185-98EEA420A741}">
      <dgm:prSet/>
      <dgm:spPr/>
      <dgm:t>
        <a:bodyPr/>
        <a:lstStyle/>
        <a:p>
          <a:endParaRPr lang="en-US"/>
        </a:p>
      </dgm:t>
    </dgm:pt>
    <dgm:pt modelId="{9D21A057-A58C-4E54-963A-3A94483B3A56}">
      <dgm:prSet/>
      <dgm:spPr/>
      <dgm:t>
        <a:bodyPr/>
        <a:lstStyle/>
        <a:p>
          <a:r>
            <a:rPr lang="ru-RU"/>
            <a:t>CSS (Cascading Style Sheets) применяется для визуального оформления веб-интерфейса системы. </a:t>
          </a:r>
          <a:endParaRPr lang="en-US"/>
        </a:p>
      </dgm:t>
    </dgm:pt>
    <dgm:pt modelId="{6229F134-EE00-4715-A1B7-808DB351FD2F}" type="parTrans" cxnId="{270E7942-F2E5-429C-9553-4E33895342D1}">
      <dgm:prSet/>
      <dgm:spPr/>
      <dgm:t>
        <a:bodyPr/>
        <a:lstStyle/>
        <a:p>
          <a:endParaRPr lang="en-US"/>
        </a:p>
      </dgm:t>
    </dgm:pt>
    <dgm:pt modelId="{087D9F68-4921-4FC4-A39E-76D44441BB18}" type="sibTrans" cxnId="{270E7942-F2E5-429C-9553-4E33895342D1}">
      <dgm:prSet/>
      <dgm:spPr/>
      <dgm:t>
        <a:bodyPr/>
        <a:lstStyle/>
        <a:p>
          <a:endParaRPr lang="en-US"/>
        </a:p>
      </dgm:t>
    </dgm:pt>
    <dgm:pt modelId="{815B2B79-2028-4444-ABD0-03B58D4F4EF0}">
      <dgm:prSet/>
      <dgm:spPr/>
      <dgm:t>
        <a:bodyPr/>
        <a:lstStyle/>
        <a:p>
          <a:r>
            <a:rPr lang="ru-RU"/>
            <a:t>Java используется для разработки дополнительных модулей системы, которые требуют высокой производительности, надежности и безопасности. </a:t>
          </a:r>
          <a:endParaRPr lang="en-US"/>
        </a:p>
      </dgm:t>
    </dgm:pt>
    <dgm:pt modelId="{ABB4DDD3-23ED-417E-B583-01D838932235}" type="parTrans" cxnId="{8897AE41-F18E-49C5-8151-0311EEAA008A}">
      <dgm:prSet/>
      <dgm:spPr/>
      <dgm:t>
        <a:bodyPr/>
        <a:lstStyle/>
        <a:p>
          <a:endParaRPr lang="en-US"/>
        </a:p>
      </dgm:t>
    </dgm:pt>
    <dgm:pt modelId="{F6042EEB-22F6-4FE3-B614-194B334F1266}" type="sibTrans" cxnId="{8897AE41-F18E-49C5-8151-0311EEAA008A}">
      <dgm:prSet/>
      <dgm:spPr/>
      <dgm:t>
        <a:bodyPr/>
        <a:lstStyle/>
        <a:p>
          <a:endParaRPr lang="en-US"/>
        </a:p>
      </dgm:t>
    </dgm:pt>
    <dgm:pt modelId="{6430A4E4-7A29-4553-924D-3A9FFB2349B9}">
      <dgm:prSet/>
      <dgm:spPr/>
      <dgm:t>
        <a:bodyPr/>
        <a:lstStyle/>
        <a:p>
          <a:r>
            <a:rPr lang="ru-RU"/>
            <a:t>Таким образом, комбинация Python, HTML, CSS и Java обеспечивает создание комплексной информационной системы, которая сочетает удобный веб-интерфейс, надежную серверную часть, масштабируемость и высокую производительность. </a:t>
          </a:r>
          <a:endParaRPr lang="en-US"/>
        </a:p>
      </dgm:t>
    </dgm:pt>
    <dgm:pt modelId="{C50BEEFF-109A-4E6E-B5C5-200F8BF0647C}" type="parTrans" cxnId="{E605B636-FD3C-4278-A8C7-67B6D625F3AE}">
      <dgm:prSet/>
      <dgm:spPr/>
      <dgm:t>
        <a:bodyPr/>
        <a:lstStyle/>
        <a:p>
          <a:endParaRPr lang="en-US"/>
        </a:p>
      </dgm:t>
    </dgm:pt>
    <dgm:pt modelId="{7DB8E4AD-DE0A-45FD-A727-EAD921F74F6A}" type="sibTrans" cxnId="{E605B636-FD3C-4278-A8C7-67B6D625F3AE}">
      <dgm:prSet/>
      <dgm:spPr/>
      <dgm:t>
        <a:bodyPr/>
        <a:lstStyle/>
        <a:p>
          <a:endParaRPr lang="en-US"/>
        </a:p>
      </dgm:t>
    </dgm:pt>
    <dgm:pt modelId="{CBF327CF-9CDC-42CD-B2D2-2431295F9FAA}" type="pres">
      <dgm:prSet presAssocID="{7DB8595A-619A-4D28-9F3A-437A4B478148}" presName="linear" presStyleCnt="0">
        <dgm:presLayoutVars>
          <dgm:animLvl val="lvl"/>
          <dgm:resizeHandles val="exact"/>
        </dgm:presLayoutVars>
      </dgm:prSet>
      <dgm:spPr/>
    </dgm:pt>
    <dgm:pt modelId="{FA97DE4E-D65D-47EA-B585-F4C07FCA079E}" type="pres">
      <dgm:prSet presAssocID="{3203C747-C6C3-4188-8A63-0868F8B4C7D5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CD71B095-73E8-4F02-9C49-9CE4E3595643}" type="pres">
      <dgm:prSet presAssocID="{CF2F7474-9718-43A1-9434-F4B5801BD1B3}" presName="spacer" presStyleCnt="0"/>
      <dgm:spPr/>
    </dgm:pt>
    <dgm:pt modelId="{24A80014-FF6A-47E0-BC41-90935226F3E0}" type="pres">
      <dgm:prSet presAssocID="{08C32649-54E4-4E22-AD16-B262E03CB1EF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091E6335-BDAA-4819-8D43-38A7AE9E46B2}" type="pres">
      <dgm:prSet presAssocID="{6B8E744A-5CDE-4049-8DF5-E31B22F71C9B}" presName="spacer" presStyleCnt="0"/>
      <dgm:spPr/>
    </dgm:pt>
    <dgm:pt modelId="{1DBF12FF-3D30-477C-8FB8-B38097A49F25}" type="pres">
      <dgm:prSet presAssocID="{3CAC0BEF-EB5C-4116-A0A3-B24F6C608317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0DC20C95-C279-4EB9-B922-1DE3B696F8D8}" type="pres">
      <dgm:prSet presAssocID="{D430B7C3-7D97-4B1C-A779-78363482C92F}" presName="spacer" presStyleCnt="0"/>
      <dgm:spPr/>
    </dgm:pt>
    <dgm:pt modelId="{A2788C96-D516-4EF7-904A-757DBBF02EB3}" type="pres">
      <dgm:prSet presAssocID="{9D21A057-A58C-4E54-963A-3A94483B3A56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08C20E54-DB41-43F1-8B09-1587C5CA7176}" type="pres">
      <dgm:prSet presAssocID="{087D9F68-4921-4FC4-A39E-76D44441BB18}" presName="spacer" presStyleCnt="0"/>
      <dgm:spPr/>
    </dgm:pt>
    <dgm:pt modelId="{9BCEFF9C-2856-49BB-A7EC-9765174658E7}" type="pres">
      <dgm:prSet presAssocID="{815B2B79-2028-4444-ABD0-03B58D4F4EF0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AFEF0031-B8D7-41C9-98C4-311BC7A4587C}" type="pres">
      <dgm:prSet presAssocID="{F6042EEB-22F6-4FE3-B614-194B334F1266}" presName="spacer" presStyleCnt="0"/>
      <dgm:spPr/>
    </dgm:pt>
    <dgm:pt modelId="{570CC24D-C6F9-425B-9DC1-3B2683C27BA1}" type="pres">
      <dgm:prSet presAssocID="{6430A4E4-7A29-4553-924D-3A9FFB2349B9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C926C103-8F7A-4663-BE2B-D8A5A198A482}" type="presOf" srcId="{3203C747-C6C3-4188-8A63-0868F8B4C7D5}" destId="{FA97DE4E-D65D-47EA-B585-F4C07FCA079E}" srcOrd="0" destOrd="0" presId="urn:microsoft.com/office/officeart/2005/8/layout/vList2"/>
    <dgm:cxn modelId="{D7C94D1A-CC03-44A5-9562-1019E7C8CB8E}" type="presOf" srcId="{7DB8595A-619A-4D28-9F3A-437A4B478148}" destId="{CBF327CF-9CDC-42CD-B2D2-2431295F9FAA}" srcOrd="0" destOrd="0" presId="urn:microsoft.com/office/officeart/2005/8/layout/vList2"/>
    <dgm:cxn modelId="{E605B636-FD3C-4278-A8C7-67B6D625F3AE}" srcId="{7DB8595A-619A-4D28-9F3A-437A4B478148}" destId="{6430A4E4-7A29-4553-924D-3A9FFB2349B9}" srcOrd="5" destOrd="0" parTransId="{C50BEEFF-109A-4E6E-B5C5-200F8BF0647C}" sibTransId="{7DB8E4AD-DE0A-45FD-A727-EAD921F74F6A}"/>
    <dgm:cxn modelId="{52DA3D40-5763-49A7-A332-2099FCA4A7FD}" type="presOf" srcId="{9D21A057-A58C-4E54-963A-3A94483B3A56}" destId="{A2788C96-D516-4EF7-904A-757DBBF02EB3}" srcOrd="0" destOrd="0" presId="urn:microsoft.com/office/officeart/2005/8/layout/vList2"/>
    <dgm:cxn modelId="{8897AE41-F18E-49C5-8151-0311EEAA008A}" srcId="{7DB8595A-619A-4D28-9F3A-437A4B478148}" destId="{815B2B79-2028-4444-ABD0-03B58D4F4EF0}" srcOrd="4" destOrd="0" parTransId="{ABB4DDD3-23ED-417E-B583-01D838932235}" sibTransId="{F6042EEB-22F6-4FE3-B614-194B334F1266}"/>
    <dgm:cxn modelId="{029AB261-09C6-4736-8879-F8E426097E2D}" type="presOf" srcId="{815B2B79-2028-4444-ABD0-03B58D4F4EF0}" destId="{9BCEFF9C-2856-49BB-A7EC-9765174658E7}" srcOrd="0" destOrd="0" presId="urn:microsoft.com/office/officeart/2005/8/layout/vList2"/>
    <dgm:cxn modelId="{270E7942-F2E5-429C-9553-4E33895342D1}" srcId="{7DB8595A-619A-4D28-9F3A-437A4B478148}" destId="{9D21A057-A58C-4E54-963A-3A94483B3A56}" srcOrd="3" destOrd="0" parTransId="{6229F134-EE00-4715-A1B7-808DB351FD2F}" sibTransId="{087D9F68-4921-4FC4-A39E-76D44441BB18}"/>
    <dgm:cxn modelId="{EE4A4147-9A57-40B2-916A-F0040898C602}" srcId="{7DB8595A-619A-4D28-9F3A-437A4B478148}" destId="{08C32649-54E4-4E22-AD16-B262E03CB1EF}" srcOrd="1" destOrd="0" parTransId="{F05C888E-856E-4017-BF76-CF3DBC8975EF}" sibTransId="{6B8E744A-5CDE-4049-8DF5-E31B22F71C9B}"/>
    <dgm:cxn modelId="{269A179F-09FC-433A-92AD-7F449C4AA2D2}" type="presOf" srcId="{08C32649-54E4-4E22-AD16-B262E03CB1EF}" destId="{24A80014-FF6A-47E0-BC41-90935226F3E0}" srcOrd="0" destOrd="0" presId="urn:microsoft.com/office/officeart/2005/8/layout/vList2"/>
    <dgm:cxn modelId="{57F1C4B8-B75D-4944-B992-E6E414E3DE6D}" srcId="{7DB8595A-619A-4D28-9F3A-437A4B478148}" destId="{3203C747-C6C3-4188-8A63-0868F8B4C7D5}" srcOrd="0" destOrd="0" parTransId="{FBCFF45F-45DC-4E91-AC6A-6ABA6682C7F7}" sibTransId="{CF2F7474-9718-43A1-9434-F4B5801BD1B3}"/>
    <dgm:cxn modelId="{A1B08EC9-B8C9-4F5A-A03D-4969CEED3BED}" type="presOf" srcId="{6430A4E4-7A29-4553-924D-3A9FFB2349B9}" destId="{570CC24D-C6F9-425B-9DC1-3B2683C27BA1}" srcOrd="0" destOrd="0" presId="urn:microsoft.com/office/officeart/2005/8/layout/vList2"/>
    <dgm:cxn modelId="{E04CE5DF-1E4B-444A-8185-98EEA420A741}" srcId="{7DB8595A-619A-4D28-9F3A-437A4B478148}" destId="{3CAC0BEF-EB5C-4116-A0A3-B24F6C608317}" srcOrd="2" destOrd="0" parTransId="{4752FB70-924D-4B54-AACE-AF4659314B72}" sibTransId="{D430B7C3-7D97-4B1C-A779-78363482C92F}"/>
    <dgm:cxn modelId="{80E3BAE7-E34C-4515-AF0E-4C360DC755EA}" type="presOf" srcId="{3CAC0BEF-EB5C-4116-A0A3-B24F6C608317}" destId="{1DBF12FF-3D30-477C-8FB8-B38097A49F25}" srcOrd="0" destOrd="0" presId="urn:microsoft.com/office/officeart/2005/8/layout/vList2"/>
    <dgm:cxn modelId="{BCBDDD13-D194-4953-9DD0-A5F38C1A83C6}" type="presParOf" srcId="{CBF327CF-9CDC-42CD-B2D2-2431295F9FAA}" destId="{FA97DE4E-D65D-47EA-B585-F4C07FCA079E}" srcOrd="0" destOrd="0" presId="urn:microsoft.com/office/officeart/2005/8/layout/vList2"/>
    <dgm:cxn modelId="{00755545-5C33-4EE5-A2D2-43DF4E10BD5C}" type="presParOf" srcId="{CBF327CF-9CDC-42CD-B2D2-2431295F9FAA}" destId="{CD71B095-73E8-4F02-9C49-9CE4E3595643}" srcOrd="1" destOrd="0" presId="urn:microsoft.com/office/officeart/2005/8/layout/vList2"/>
    <dgm:cxn modelId="{DFFA3D4B-754A-4495-A983-EAF8E358D930}" type="presParOf" srcId="{CBF327CF-9CDC-42CD-B2D2-2431295F9FAA}" destId="{24A80014-FF6A-47E0-BC41-90935226F3E0}" srcOrd="2" destOrd="0" presId="urn:microsoft.com/office/officeart/2005/8/layout/vList2"/>
    <dgm:cxn modelId="{EA7C07B1-F106-4112-A340-D2154B7BDDE4}" type="presParOf" srcId="{CBF327CF-9CDC-42CD-B2D2-2431295F9FAA}" destId="{091E6335-BDAA-4819-8D43-38A7AE9E46B2}" srcOrd="3" destOrd="0" presId="urn:microsoft.com/office/officeart/2005/8/layout/vList2"/>
    <dgm:cxn modelId="{BA804B68-21D6-41A0-BBD9-E4D048D790AF}" type="presParOf" srcId="{CBF327CF-9CDC-42CD-B2D2-2431295F9FAA}" destId="{1DBF12FF-3D30-477C-8FB8-B38097A49F25}" srcOrd="4" destOrd="0" presId="urn:microsoft.com/office/officeart/2005/8/layout/vList2"/>
    <dgm:cxn modelId="{CAF6CCAD-14C5-4604-9FAB-F09EB0005D56}" type="presParOf" srcId="{CBF327CF-9CDC-42CD-B2D2-2431295F9FAA}" destId="{0DC20C95-C279-4EB9-B922-1DE3B696F8D8}" srcOrd="5" destOrd="0" presId="urn:microsoft.com/office/officeart/2005/8/layout/vList2"/>
    <dgm:cxn modelId="{4F8DC5A4-B92C-4779-BCC2-5A38EAF9A24D}" type="presParOf" srcId="{CBF327CF-9CDC-42CD-B2D2-2431295F9FAA}" destId="{A2788C96-D516-4EF7-904A-757DBBF02EB3}" srcOrd="6" destOrd="0" presId="urn:microsoft.com/office/officeart/2005/8/layout/vList2"/>
    <dgm:cxn modelId="{3FF17A07-A7DB-4520-AADC-1FFC99CB4827}" type="presParOf" srcId="{CBF327CF-9CDC-42CD-B2D2-2431295F9FAA}" destId="{08C20E54-DB41-43F1-8B09-1587C5CA7176}" srcOrd="7" destOrd="0" presId="urn:microsoft.com/office/officeart/2005/8/layout/vList2"/>
    <dgm:cxn modelId="{4F998B95-30F1-4CD1-87BB-C9DAA33BC1F4}" type="presParOf" srcId="{CBF327CF-9CDC-42CD-B2D2-2431295F9FAA}" destId="{9BCEFF9C-2856-49BB-A7EC-9765174658E7}" srcOrd="8" destOrd="0" presId="urn:microsoft.com/office/officeart/2005/8/layout/vList2"/>
    <dgm:cxn modelId="{F6DFDCBF-E45A-4595-BEEC-F13611714C3A}" type="presParOf" srcId="{CBF327CF-9CDC-42CD-B2D2-2431295F9FAA}" destId="{AFEF0031-B8D7-41C9-98C4-311BC7A4587C}" srcOrd="9" destOrd="0" presId="urn:microsoft.com/office/officeart/2005/8/layout/vList2"/>
    <dgm:cxn modelId="{2F24A382-7E33-4290-B7B8-03452D23620D}" type="presParOf" srcId="{CBF327CF-9CDC-42CD-B2D2-2431295F9FAA}" destId="{570CC24D-C6F9-425B-9DC1-3B2683C27BA1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BE6F93-EF74-4973-BBA7-3FFB57292192}">
      <dsp:nvSpPr>
        <dsp:cNvPr id="0" name=""/>
        <dsp:cNvSpPr/>
      </dsp:nvSpPr>
      <dsp:spPr>
        <a:xfrm>
          <a:off x="490172" y="2641064"/>
          <a:ext cx="1428290" cy="142829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426CAD-5EAB-4A44-A597-D50086DCB1AA}">
      <dsp:nvSpPr>
        <dsp:cNvPr id="0" name=""/>
        <dsp:cNvSpPr/>
      </dsp:nvSpPr>
      <dsp:spPr>
        <a:xfrm>
          <a:off x="790113" y="2941005"/>
          <a:ext cx="828408" cy="8284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C6275F-9AE9-423A-A217-E3E2EE724D24}">
      <dsp:nvSpPr>
        <dsp:cNvPr id="0" name=""/>
        <dsp:cNvSpPr/>
      </dsp:nvSpPr>
      <dsp:spPr>
        <a:xfrm>
          <a:off x="2193147" y="2641064"/>
          <a:ext cx="3366683" cy="1428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В </a:t>
          </a:r>
          <a:r>
            <a:rPr lang="en-US" sz="1300" kern="1200" dirty="0" err="1"/>
            <a:t>современном</a:t>
          </a:r>
          <a:r>
            <a:rPr lang="en-US" sz="1300" kern="1200" dirty="0"/>
            <a:t> </a:t>
          </a:r>
          <a:r>
            <a:rPr lang="en-US" sz="1300" kern="1200" dirty="0" err="1"/>
            <a:t>мире</a:t>
          </a:r>
          <a:r>
            <a:rPr lang="en-US" sz="1300" kern="1200" dirty="0"/>
            <a:t> </a:t>
          </a:r>
          <a:r>
            <a:rPr lang="en-US" sz="1300" kern="1200" dirty="0" err="1"/>
            <a:t>информационные</a:t>
          </a:r>
          <a:r>
            <a:rPr lang="en-US" sz="1300" kern="1200" dirty="0"/>
            <a:t> </a:t>
          </a:r>
          <a:r>
            <a:rPr lang="en-US" sz="1300" kern="1200" dirty="0" err="1"/>
            <a:t>технологии</a:t>
          </a:r>
          <a:r>
            <a:rPr lang="en-US" sz="1300" kern="1200" dirty="0"/>
            <a:t> </a:t>
          </a:r>
          <a:r>
            <a:rPr lang="en-US" sz="1300" kern="1200" dirty="0" err="1"/>
            <a:t>занимают</a:t>
          </a:r>
          <a:r>
            <a:rPr lang="en-US" sz="1300" kern="1200" dirty="0"/>
            <a:t> </a:t>
          </a:r>
          <a:r>
            <a:rPr lang="en-US" sz="1300" kern="1200" dirty="0" err="1"/>
            <a:t>ключевое</a:t>
          </a:r>
          <a:r>
            <a:rPr lang="en-US" sz="1300" kern="1200" dirty="0"/>
            <a:t> </a:t>
          </a:r>
          <a:r>
            <a:rPr lang="en-US" sz="1300" kern="1200" dirty="0" err="1"/>
            <a:t>место</a:t>
          </a:r>
          <a:r>
            <a:rPr lang="en-US" sz="1300" kern="1200" dirty="0"/>
            <a:t> в </a:t>
          </a:r>
          <a:r>
            <a:rPr lang="en-US" sz="1300" kern="1200" dirty="0" err="1"/>
            <a:t>деятельности</a:t>
          </a:r>
          <a:r>
            <a:rPr lang="en-US" sz="1300" kern="1200" dirty="0"/>
            <a:t> </a:t>
          </a:r>
          <a:r>
            <a:rPr lang="en-US" sz="1300" kern="1200" dirty="0" err="1"/>
            <a:t>практически</a:t>
          </a:r>
          <a:r>
            <a:rPr lang="en-US" sz="1300" kern="1200" dirty="0"/>
            <a:t> </a:t>
          </a:r>
          <a:r>
            <a:rPr lang="en-US" sz="1300" kern="1200" dirty="0" err="1"/>
            <a:t>любой</a:t>
          </a:r>
          <a:r>
            <a:rPr lang="en-US" sz="1300" kern="1200" dirty="0"/>
            <a:t> </a:t>
          </a:r>
          <a:r>
            <a:rPr lang="en-US" sz="1300" kern="1200" dirty="0" err="1"/>
            <a:t>организации</a:t>
          </a:r>
          <a:r>
            <a:rPr lang="en-US" sz="1300" kern="1200" dirty="0"/>
            <a:t>. </a:t>
          </a:r>
        </a:p>
      </dsp:txBody>
      <dsp:txXfrm>
        <a:off x="2193147" y="2641064"/>
        <a:ext cx="3366683" cy="1428290"/>
      </dsp:txXfrm>
    </dsp:sp>
    <dsp:sp modelId="{4E475AD8-2CA1-4359-AA88-0371DF837B1A}">
      <dsp:nvSpPr>
        <dsp:cNvPr id="0" name=""/>
        <dsp:cNvSpPr/>
      </dsp:nvSpPr>
      <dsp:spPr>
        <a:xfrm>
          <a:off x="490172" y="4663165"/>
          <a:ext cx="1428290" cy="142829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734FC5-2BF1-49F9-9D3D-ADE5CBE155DD}">
      <dsp:nvSpPr>
        <dsp:cNvPr id="0" name=""/>
        <dsp:cNvSpPr/>
      </dsp:nvSpPr>
      <dsp:spPr>
        <a:xfrm>
          <a:off x="790113" y="4963106"/>
          <a:ext cx="828408" cy="8284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8DD8DA-D777-44BE-A1B3-5A027E2704BA}">
      <dsp:nvSpPr>
        <dsp:cNvPr id="0" name=""/>
        <dsp:cNvSpPr/>
      </dsp:nvSpPr>
      <dsp:spPr>
        <a:xfrm>
          <a:off x="2224524" y="4663165"/>
          <a:ext cx="3366683" cy="1428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В результате внедрения информационных технологий повышается эффективность работы предприятий, улучшается качество обслуживания клиентов и снижаются временные затраты на выполнение различных операций.</a:t>
          </a:r>
        </a:p>
      </dsp:txBody>
      <dsp:txXfrm>
        <a:off x="2224524" y="4663165"/>
        <a:ext cx="3366683" cy="14282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025171-0982-44CF-97E6-5C0B882DDBFB}">
      <dsp:nvSpPr>
        <dsp:cNvPr id="0" name=""/>
        <dsp:cNvSpPr/>
      </dsp:nvSpPr>
      <dsp:spPr>
        <a:xfrm>
          <a:off x="0" y="82380"/>
          <a:ext cx="6628804" cy="15607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/>
            <a:t>Прежде всего требуется провести анализ деятельности гостиницы для животных и определить основные процессы, которые возникают в процессе её работы.</a:t>
          </a:r>
          <a:endParaRPr lang="en-US" sz="2300" kern="1200"/>
        </a:p>
      </dsp:txBody>
      <dsp:txXfrm>
        <a:off x="76191" y="158571"/>
        <a:ext cx="6476422" cy="1408398"/>
      </dsp:txXfrm>
    </dsp:sp>
    <dsp:sp modelId="{A95AEBA2-5B9E-4AA3-A325-A1A69B424F10}">
      <dsp:nvSpPr>
        <dsp:cNvPr id="0" name=""/>
        <dsp:cNvSpPr/>
      </dsp:nvSpPr>
      <dsp:spPr>
        <a:xfrm>
          <a:off x="0" y="1709400"/>
          <a:ext cx="6628804" cy="1560780"/>
        </a:xfrm>
        <a:prstGeom prst="roundRect">
          <a:avLst/>
        </a:prstGeom>
        <a:gradFill rotWithShape="0">
          <a:gsLst>
            <a:gs pos="0">
              <a:schemeClr val="accent2">
                <a:hueOff val="-1482143"/>
                <a:satOff val="7100"/>
                <a:lumOff val="6569"/>
                <a:alphaOff val="0"/>
                <a:tint val="96000"/>
                <a:lumMod val="100000"/>
              </a:schemeClr>
            </a:gs>
            <a:gs pos="78000">
              <a:schemeClr val="accent2">
                <a:hueOff val="-1482143"/>
                <a:satOff val="7100"/>
                <a:lumOff val="6569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/>
            <a:t>Следующей задачей является определение структуры будущей информационной системы и её основных функциональных возможностей. </a:t>
          </a:r>
          <a:endParaRPr lang="en-US" sz="2300" kern="1200"/>
        </a:p>
      </dsp:txBody>
      <dsp:txXfrm>
        <a:off x="76191" y="1785591"/>
        <a:ext cx="6476422" cy="1408398"/>
      </dsp:txXfrm>
    </dsp:sp>
    <dsp:sp modelId="{2B689228-734C-4F99-9A1A-CB6A5F743645}">
      <dsp:nvSpPr>
        <dsp:cNvPr id="0" name=""/>
        <dsp:cNvSpPr/>
      </dsp:nvSpPr>
      <dsp:spPr>
        <a:xfrm>
          <a:off x="0" y="3336420"/>
          <a:ext cx="6628804" cy="1560780"/>
        </a:xfrm>
        <a:prstGeom prst="roundRect">
          <a:avLst/>
        </a:prstGeom>
        <a:gradFill rotWithShape="0">
          <a:gsLst>
            <a:gs pos="0">
              <a:schemeClr val="accent2">
                <a:hueOff val="-2964286"/>
                <a:satOff val="14200"/>
                <a:lumOff val="13137"/>
                <a:alphaOff val="0"/>
                <a:tint val="96000"/>
                <a:lumMod val="100000"/>
              </a:schemeClr>
            </a:gs>
            <a:gs pos="78000">
              <a:schemeClr val="accent2">
                <a:hueOff val="-2964286"/>
                <a:satOff val="14200"/>
                <a:lumOff val="1313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/>
            <a:t>Также одной из задач является проектирование пользовательского интерфейса системы.</a:t>
          </a:r>
          <a:endParaRPr lang="en-US" sz="2300" kern="1200"/>
        </a:p>
      </dsp:txBody>
      <dsp:txXfrm>
        <a:off x="76191" y="3412611"/>
        <a:ext cx="6476422" cy="140839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7C05FE-0309-4A98-846C-07F448E74C9E}">
      <dsp:nvSpPr>
        <dsp:cNvPr id="0" name=""/>
        <dsp:cNvSpPr/>
      </dsp:nvSpPr>
      <dsp:spPr>
        <a:xfrm>
          <a:off x="0" y="196230"/>
          <a:ext cx="6628804" cy="226044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5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/>
            <a:t>Объектом исследования в данной работе является деятельность гостиницы для животных как организации, предоставляющей услуги по временному размещению и уходу за домашними питомцами. </a:t>
          </a:r>
          <a:endParaRPr lang="en-US" sz="2300" kern="1200"/>
        </a:p>
      </dsp:txBody>
      <dsp:txXfrm>
        <a:off x="110346" y="306576"/>
        <a:ext cx="6408112" cy="2039748"/>
      </dsp:txXfrm>
    </dsp:sp>
    <dsp:sp modelId="{DE76DD46-BBFA-4C05-B41C-54CF1C75CA9A}">
      <dsp:nvSpPr>
        <dsp:cNvPr id="0" name=""/>
        <dsp:cNvSpPr/>
      </dsp:nvSpPr>
      <dsp:spPr>
        <a:xfrm>
          <a:off x="0" y="2522910"/>
          <a:ext cx="6628804" cy="2260440"/>
        </a:xfrm>
        <a:prstGeom prst="roundRect">
          <a:avLst/>
        </a:prstGeom>
        <a:gradFill rotWithShape="0">
          <a:gsLst>
            <a:gs pos="0">
              <a:schemeClr val="accent5">
                <a:hueOff val="2495256"/>
                <a:satOff val="-50489"/>
                <a:lumOff val="1569"/>
                <a:alphaOff val="0"/>
                <a:tint val="96000"/>
                <a:lumMod val="100000"/>
              </a:schemeClr>
            </a:gs>
            <a:gs pos="78000">
              <a:schemeClr val="accent5">
                <a:hueOff val="2495256"/>
                <a:satOff val="-50489"/>
                <a:lumOff val="1569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/>
            <a:t>Предметом исследования выступают процессы обработки информации, возникающие в ходе работы гостиницы для животных, а также методы и средства их автоматизации с использованием современных информационных технологий.</a:t>
          </a:r>
          <a:endParaRPr lang="en-US" sz="2300" kern="1200"/>
        </a:p>
      </dsp:txBody>
      <dsp:txXfrm>
        <a:off x="110346" y="2633256"/>
        <a:ext cx="6408112" cy="203974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4EFD1A-F4A7-4C25-A3B2-F2E41D306749}">
      <dsp:nvSpPr>
        <dsp:cNvPr id="0" name=""/>
        <dsp:cNvSpPr/>
      </dsp:nvSpPr>
      <dsp:spPr>
        <a:xfrm>
          <a:off x="0" y="143138"/>
          <a:ext cx="6628804" cy="748617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/>
            <a:t>Основные понятия предметной области,</a:t>
          </a:r>
          <a:endParaRPr lang="en-US" sz="1400" kern="1200"/>
        </a:p>
      </dsp:txBody>
      <dsp:txXfrm>
        <a:off x="36544" y="179682"/>
        <a:ext cx="6555716" cy="675529"/>
      </dsp:txXfrm>
    </dsp:sp>
    <dsp:sp modelId="{FAC96100-BCA2-425D-8A6E-1AB6AF5CC4AE}">
      <dsp:nvSpPr>
        <dsp:cNvPr id="0" name=""/>
        <dsp:cNvSpPr/>
      </dsp:nvSpPr>
      <dsp:spPr>
        <a:xfrm>
          <a:off x="0" y="932076"/>
          <a:ext cx="6628804" cy="748617"/>
        </a:xfrm>
        <a:prstGeom prst="roundRect">
          <a:avLst/>
        </a:prstGeom>
        <a:gradFill rotWithShape="0">
          <a:gsLst>
            <a:gs pos="0">
              <a:schemeClr val="accent2">
                <a:hueOff val="-592857"/>
                <a:satOff val="2840"/>
                <a:lumOff val="2627"/>
                <a:alphaOff val="0"/>
                <a:tint val="96000"/>
                <a:lumMod val="100000"/>
              </a:schemeClr>
            </a:gs>
            <a:gs pos="78000">
              <a:schemeClr val="accent2">
                <a:hueOff val="-592857"/>
                <a:satOff val="2840"/>
                <a:lumOff val="262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/>
            <a:t>Одним из ключевых понятий является клиент или владелец животного. </a:t>
          </a:r>
          <a:endParaRPr lang="en-US" sz="1400" kern="1200"/>
        </a:p>
      </dsp:txBody>
      <dsp:txXfrm>
        <a:off x="36544" y="968620"/>
        <a:ext cx="6555716" cy="675529"/>
      </dsp:txXfrm>
    </dsp:sp>
    <dsp:sp modelId="{2FE57E90-A7D8-463D-90E6-DF8BC848F0FB}">
      <dsp:nvSpPr>
        <dsp:cNvPr id="0" name=""/>
        <dsp:cNvSpPr/>
      </dsp:nvSpPr>
      <dsp:spPr>
        <a:xfrm>
          <a:off x="0" y="1721013"/>
          <a:ext cx="6628804" cy="748617"/>
        </a:xfrm>
        <a:prstGeom prst="roundRect">
          <a:avLst/>
        </a:prstGeom>
        <a:gradFill rotWithShape="0">
          <a:gsLst>
            <a:gs pos="0">
              <a:schemeClr val="accent2">
                <a:hueOff val="-1185714"/>
                <a:satOff val="5680"/>
                <a:lumOff val="5255"/>
                <a:alphaOff val="0"/>
                <a:tint val="96000"/>
                <a:lumMod val="100000"/>
              </a:schemeClr>
            </a:gs>
            <a:gs pos="78000">
              <a:schemeClr val="accent2">
                <a:hueOff val="-1185714"/>
                <a:satOff val="5680"/>
                <a:lumOff val="5255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/>
            <a:t>Клиент предоставляет необходимую информацию о животном, оформляет договор на оказание услуг и производит оплату.</a:t>
          </a:r>
          <a:endParaRPr lang="en-US" sz="1400" kern="1200"/>
        </a:p>
      </dsp:txBody>
      <dsp:txXfrm>
        <a:off x="36544" y="1757557"/>
        <a:ext cx="6555716" cy="675529"/>
      </dsp:txXfrm>
    </dsp:sp>
    <dsp:sp modelId="{8D932980-EE59-4190-9768-0D987EB6ADB2}">
      <dsp:nvSpPr>
        <dsp:cNvPr id="0" name=""/>
        <dsp:cNvSpPr/>
      </dsp:nvSpPr>
      <dsp:spPr>
        <a:xfrm>
          <a:off x="0" y="2509950"/>
          <a:ext cx="6628804" cy="748617"/>
        </a:xfrm>
        <a:prstGeom prst="roundRect">
          <a:avLst/>
        </a:prstGeom>
        <a:gradFill rotWithShape="0">
          <a:gsLst>
            <a:gs pos="0">
              <a:schemeClr val="accent2">
                <a:hueOff val="-1778572"/>
                <a:satOff val="8520"/>
                <a:lumOff val="7882"/>
                <a:alphaOff val="0"/>
                <a:tint val="96000"/>
                <a:lumMod val="100000"/>
              </a:schemeClr>
            </a:gs>
            <a:gs pos="78000">
              <a:schemeClr val="accent2">
                <a:hueOff val="-1778572"/>
                <a:satOff val="8520"/>
                <a:lumOff val="7882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/>
            <a:t>Не менее важным понятием является животное, которое выступает основным объектом обслуживания в гостинице. </a:t>
          </a:r>
          <a:endParaRPr lang="en-US" sz="1400" kern="1200"/>
        </a:p>
      </dsp:txBody>
      <dsp:txXfrm>
        <a:off x="36544" y="2546494"/>
        <a:ext cx="6555716" cy="675529"/>
      </dsp:txXfrm>
    </dsp:sp>
    <dsp:sp modelId="{18D682E5-E0DF-4909-B435-0115BB8A6802}">
      <dsp:nvSpPr>
        <dsp:cNvPr id="0" name=""/>
        <dsp:cNvSpPr/>
      </dsp:nvSpPr>
      <dsp:spPr>
        <a:xfrm>
          <a:off x="0" y="3298887"/>
          <a:ext cx="6628804" cy="748617"/>
        </a:xfrm>
        <a:prstGeom prst="roundRect">
          <a:avLst/>
        </a:prstGeom>
        <a:gradFill rotWithShape="0">
          <a:gsLst>
            <a:gs pos="0">
              <a:schemeClr val="accent2">
                <a:hueOff val="-2371429"/>
                <a:satOff val="11360"/>
                <a:lumOff val="10510"/>
                <a:alphaOff val="0"/>
                <a:tint val="96000"/>
                <a:lumMod val="100000"/>
              </a:schemeClr>
            </a:gs>
            <a:gs pos="78000">
              <a:schemeClr val="accent2">
                <a:hueOff val="-2371429"/>
                <a:satOff val="11360"/>
                <a:lumOff val="1051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Услуга. В контексте гостиницы для животных услугой считается действие или комплекс действий, направленных на обеспечение ухода и содержания животного. </a:t>
          </a:r>
          <a:endParaRPr lang="en-US" sz="1400" kern="1200" dirty="0"/>
        </a:p>
      </dsp:txBody>
      <dsp:txXfrm>
        <a:off x="36544" y="3335431"/>
        <a:ext cx="6555716" cy="675529"/>
      </dsp:txXfrm>
    </dsp:sp>
    <dsp:sp modelId="{1A1D0DE7-F9E4-4745-9ECD-79EED5856F8B}">
      <dsp:nvSpPr>
        <dsp:cNvPr id="0" name=""/>
        <dsp:cNvSpPr/>
      </dsp:nvSpPr>
      <dsp:spPr>
        <a:xfrm>
          <a:off x="0" y="4087824"/>
          <a:ext cx="6628804" cy="748617"/>
        </a:xfrm>
        <a:prstGeom prst="roundRect">
          <a:avLst/>
        </a:prstGeom>
        <a:gradFill rotWithShape="0">
          <a:gsLst>
            <a:gs pos="0">
              <a:schemeClr val="accent2">
                <a:hueOff val="-2964286"/>
                <a:satOff val="14200"/>
                <a:lumOff val="13137"/>
                <a:alphaOff val="0"/>
                <a:tint val="96000"/>
                <a:lumMod val="100000"/>
              </a:schemeClr>
            </a:gs>
            <a:gs pos="78000">
              <a:schemeClr val="accent2">
                <a:hueOff val="-2964286"/>
                <a:satOff val="14200"/>
                <a:lumOff val="1313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/>
            <a:t>Существенным элементом предметной области является бронирование. Бронирование представляет собой процесс предварительного резервирования места для животного на определенный период времени. </a:t>
          </a:r>
          <a:endParaRPr lang="en-US" sz="1400" kern="1200"/>
        </a:p>
      </dsp:txBody>
      <dsp:txXfrm>
        <a:off x="36544" y="4124368"/>
        <a:ext cx="6555716" cy="67552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8F0247-9100-4257-A938-F3A83FC4288E}">
      <dsp:nvSpPr>
        <dsp:cNvPr id="0" name=""/>
        <dsp:cNvSpPr/>
      </dsp:nvSpPr>
      <dsp:spPr>
        <a:xfrm>
          <a:off x="0" y="43005"/>
          <a:ext cx="6628804" cy="583976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5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/>
            <a:t>При разработке информационной системы для гостиницы для животных необходимо учитывать ряд общих принципов проектирования программного обеспечения. </a:t>
          </a:r>
          <a:endParaRPr lang="en-US" sz="1100" kern="1200"/>
        </a:p>
      </dsp:txBody>
      <dsp:txXfrm>
        <a:off x="28507" y="71512"/>
        <a:ext cx="6571790" cy="526962"/>
      </dsp:txXfrm>
    </dsp:sp>
    <dsp:sp modelId="{002C2A6A-622B-4A4B-9C78-4D5A39516FA7}">
      <dsp:nvSpPr>
        <dsp:cNvPr id="0" name=""/>
        <dsp:cNvSpPr/>
      </dsp:nvSpPr>
      <dsp:spPr>
        <a:xfrm>
          <a:off x="0" y="658661"/>
          <a:ext cx="6628804" cy="583976"/>
        </a:xfrm>
        <a:prstGeom prst="roundRect">
          <a:avLst/>
        </a:prstGeom>
        <a:gradFill rotWithShape="0">
          <a:gsLst>
            <a:gs pos="0">
              <a:schemeClr val="accent5">
                <a:hueOff val="356465"/>
                <a:satOff val="-7213"/>
                <a:lumOff val="224"/>
                <a:alphaOff val="0"/>
                <a:tint val="96000"/>
                <a:lumMod val="100000"/>
              </a:schemeClr>
            </a:gs>
            <a:gs pos="78000">
              <a:schemeClr val="accent5">
                <a:hueOff val="356465"/>
                <a:satOff val="-7213"/>
                <a:lumOff val="224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/>
            <a:t>принцип системности. Он заключается в том, что разрабатываемая информационная система должна рассматриваться как единое целое, состоящее из взаимосвязанных элементов. </a:t>
          </a:r>
          <a:endParaRPr lang="en-US" sz="1100" kern="1200"/>
        </a:p>
      </dsp:txBody>
      <dsp:txXfrm>
        <a:off x="28507" y="687168"/>
        <a:ext cx="6571790" cy="526962"/>
      </dsp:txXfrm>
    </dsp:sp>
    <dsp:sp modelId="{574541CF-245C-4521-B5DE-7EB22139B3EE}">
      <dsp:nvSpPr>
        <dsp:cNvPr id="0" name=""/>
        <dsp:cNvSpPr/>
      </dsp:nvSpPr>
      <dsp:spPr>
        <a:xfrm>
          <a:off x="0" y="1274318"/>
          <a:ext cx="6628804" cy="583976"/>
        </a:xfrm>
        <a:prstGeom prst="roundRect">
          <a:avLst/>
        </a:prstGeom>
        <a:gradFill rotWithShape="0">
          <a:gsLst>
            <a:gs pos="0">
              <a:schemeClr val="accent5">
                <a:hueOff val="712930"/>
                <a:satOff val="-14425"/>
                <a:lumOff val="448"/>
                <a:alphaOff val="0"/>
                <a:tint val="96000"/>
                <a:lumMod val="100000"/>
              </a:schemeClr>
            </a:gs>
            <a:gs pos="78000">
              <a:schemeClr val="accent5">
                <a:hueOff val="712930"/>
                <a:satOff val="-14425"/>
                <a:lumOff val="448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/>
            <a:t>принцип модульности. Согласно данному принципу, программный продукт должен состоять из отдельных модулей или компонентов, каждый из которых отвечает за выполнение определённой функции.</a:t>
          </a:r>
          <a:endParaRPr lang="en-US" sz="1100" kern="1200"/>
        </a:p>
      </dsp:txBody>
      <dsp:txXfrm>
        <a:off x="28507" y="1302825"/>
        <a:ext cx="6571790" cy="526962"/>
      </dsp:txXfrm>
    </dsp:sp>
    <dsp:sp modelId="{AF11966D-2091-430D-90FE-9A67D46E0929}">
      <dsp:nvSpPr>
        <dsp:cNvPr id="0" name=""/>
        <dsp:cNvSpPr/>
      </dsp:nvSpPr>
      <dsp:spPr>
        <a:xfrm>
          <a:off x="0" y="1889974"/>
          <a:ext cx="6628804" cy="583976"/>
        </a:xfrm>
        <a:prstGeom prst="roundRect">
          <a:avLst/>
        </a:prstGeom>
        <a:gradFill rotWithShape="0">
          <a:gsLst>
            <a:gs pos="0">
              <a:schemeClr val="accent5">
                <a:hueOff val="1069395"/>
                <a:satOff val="-21638"/>
                <a:lumOff val="672"/>
                <a:alphaOff val="0"/>
                <a:tint val="96000"/>
                <a:lumMod val="100000"/>
              </a:schemeClr>
            </a:gs>
            <a:gs pos="78000">
              <a:schemeClr val="accent5">
                <a:hueOff val="1069395"/>
                <a:satOff val="-21638"/>
                <a:lumOff val="672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/>
            <a:t>принцип удобства использования или пользовательской ориентированности. Информационная система должна быть понятной и простой в использовании для сотрудников гостиницы.</a:t>
          </a:r>
          <a:endParaRPr lang="en-US" sz="1100" kern="1200"/>
        </a:p>
      </dsp:txBody>
      <dsp:txXfrm>
        <a:off x="28507" y="1918481"/>
        <a:ext cx="6571790" cy="526962"/>
      </dsp:txXfrm>
    </dsp:sp>
    <dsp:sp modelId="{71EEB1DD-24AF-4E63-A225-AE5CD0683698}">
      <dsp:nvSpPr>
        <dsp:cNvPr id="0" name=""/>
        <dsp:cNvSpPr/>
      </dsp:nvSpPr>
      <dsp:spPr>
        <a:xfrm>
          <a:off x="0" y="2505630"/>
          <a:ext cx="6628804" cy="583976"/>
        </a:xfrm>
        <a:prstGeom prst="roundRect">
          <a:avLst/>
        </a:prstGeom>
        <a:gradFill rotWithShape="0">
          <a:gsLst>
            <a:gs pos="0">
              <a:schemeClr val="accent5">
                <a:hueOff val="1425861"/>
                <a:satOff val="-28851"/>
                <a:lumOff val="897"/>
                <a:alphaOff val="0"/>
                <a:tint val="96000"/>
                <a:lumMod val="100000"/>
              </a:schemeClr>
            </a:gs>
            <a:gs pos="78000">
              <a:schemeClr val="accent5">
                <a:hueOff val="1425861"/>
                <a:satOff val="-28851"/>
                <a:lumOff val="89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/>
            <a:t>принцип надежности. Программный продукт должен обеспечивать стабильную и корректную работу при различных условиях эксплуатации.</a:t>
          </a:r>
          <a:endParaRPr lang="en-US" sz="1100" kern="1200"/>
        </a:p>
      </dsp:txBody>
      <dsp:txXfrm>
        <a:off x="28507" y="2534137"/>
        <a:ext cx="6571790" cy="526962"/>
      </dsp:txXfrm>
    </dsp:sp>
    <dsp:sp modelId="{C9C7BD1C-DAD6-48D2-8FA7-1940951E2F87}">
      <dsp:nvSpPr>
        <dsp:cNvPr id="0" name=""/>
        <dsp:cNvSpPr/>
      </dsp:nvSpPr>
      <dsp:spPr>
        <a:xfrm>
          <a:off x="0" y="3121286"/>
          <a:ext cx="6628804" cy="583976"/>
        </a:xfrm>
        <a:prstGeom prst="roundRect">
          <a:avLst/>
        </a:prstGeom>
        <a:gradFill rotWithShape="0">
          <a:gsLst>
            <a:gs pos="0">
              <a:schemeClr val="accent5">
                <a:hueOff val="1782326"/>
                <a:satOff val="-36064"/>
                <a:lumOff val="1121"/>
                <a:alphaOff val="0"/>
                <a:tint val="96000"/>
                <a:lumMod val="100000"/>
              </a:schemeClr>
            </a:gs>
            <a:gs pos="78000">
              <a:schemeClr val="accent5">
                <a:hueOff val="1782326"/>
                <a:satOff val="-36064"/>
                <a:lumOff val="1121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/>
            <a:t>принцип эффективности. Информационная система должна обеспечивать быстрое выполнение операций и рациональное использование ресурсов компьютера. </a:t>
          </a:r>
          <a:endParaRPr lang="en-US" sz="1100" kern="1200"/>
        </a:p>
      </dsp:txBody>
      <dsp:txXfrm>
        <a:off x="28507" y="3149793"/>
        <a:ext cx="6571790" cy="526962"/>
      </dsp:txXfrm>
    </dsp:sp>
    <dsp:sp modelId="{17864581-FC56-4350-8D9B-DB7EAB3AE4BD}">
      <dsp:nvSpPr>
        <dsp:cNvPr id="0" name=""/>
        <dsp:cNvSpPr/>
      </dsp:nvSpPr>
      <dsp:spPr>
        <a:xfrm>
          <a:off x="0" y="3736943"/>
          <a:ext cx="6628804" cy="583976"/>
        </a:xfrm>
        <a:prstGeom prst="roundRect">
          <a:avLst/>
        </a:prstGeom>
        <a:gradFill rotWithShape="0">
          <a:gsLst>
            <a:gs pos="0">
              <a:schemeClr val="accent5">
                <a:hueOff val="2138791"/>
                <a:satOff val="-43276"/>
                <a:lumOff val="1345"/>
                <a:alphaOff val="0"/>
                <a:tint val="96000"/>
                <a:lumMod val="100000"/>
              </a:schemeClr>
            </a:gs>
            <a:gs pos="78000">
              <a:schemeClr val="accent5">
                <a:hueOff val="2138791"/>
                <a:satOff val="-43276"/>
                <a:lumOff val="1345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/>
            <a:t>принцип масштабируемости. В процессе развития гостиницы для животных может увеличиваться количество клиентов, животных и предоставляемых услуг.</a:t>
          </a:r>
          <a:endParaRPr lang="en-US" sz="1100" kern="1200"/>
        </a:p>
      </dsp:txBody>
      <dsp:txXfrm>
        <a:off x="28507" y="3765450"/>
        <a:ext cx="6571790" cy="526962"/>
      </dsp:txXfrm>
    </dsp:sp>
    <dsp:sp modelId="{69186204-7E9C-4D0F-9CC9-9BFA4BA7375F}">
      <dsp:nvSpPr>
        <dsp:cNvPr id="0" name=""/>
        <dsp:cNvSpPr/>
      </dsp:nvSpPr>
      <dsp:spPr>
        <a:xfrm>
          <a:off x="0" y="4352599"/>
          <a:ext cx="6628804" cy="583976"/>
        </a:xfrm>
        <a:prstGeom prst="roundRect">
          <a:avLst/>
        </a:prstGeom>
        <a:gradFill rotWithShape="0">
          <a:gsLst>
            <a:gs pos="0">
              <a:schemeClr val="accent5">
                <a:hueOff val="2495256"/>
                <a:satOff val="-50489"/>
                <a:lumOff val="1569"/>
                <a:alphaOff val="0"/>
                <a:tint val="96000"/>
                <a:lumMod val="100000"/>
              </a:schemeClr>
            </a:gs>
            <a:gs pos="78000">
              <a:schemeClr val="accent5">
                <a:hueOff val="2495256"/>
                <a:satOff val="-50489"/>
                <a:lumOff val="1569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/>
            <a:t>принцип безопасности. В системе будут храниться персональные данные клиентов и другая важная информация, поэтому необходимо обеспечить защиту этих данных от несанкционированного доступа.</a:t>
          </a:r>
          <a:endParaRPr lang="en-US" sz="1100" kern="1200"/>
        </a:p>
      </dsp:txBody>
      <dsp:txXfrm>
        <a:off x="28507" y="4381106"/>
        <a:ext cx="6571790" cy="52696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6A8292-6D2B-40E4-8033-29EFA6141DF0}">
      <dsp:nvSpPr>
        <dsp:cNvPr id="0" name=""/>
        <dsp:cNvSpPr/>
      </dsp:nvSpPr>
      <dsp:spPr>
        <a:xfrm>
          <a:off x="0" y="96510"/>
          <a:ext cx="6628804" cy="235871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5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/>
            <a:t>Основной целевой аудиторией системы являются сотрудники гостиницы для животных, которые непосредственно занимаются оформлением заявок, регистрацией клиентов и их питомцев, а также контролем размещения животных</a:t>
          </a:r>
          <a:endParaRPr lang="en-US" sz="2400" kern="1200"/>
        </a:p>
      </dsp:txBody>
      <dsp:txXfrm>
        <a:off x="115143" y="211653"/>
        <a:ext cx="6398518" cy="2128433"/>
      </dsp:txXfrm>
    </dsp:sp>
    <dsp:sp modelId="{BA5726F6-1C76-4A55-B00C-D5C43647A835}">
      <dsp:nvSpPr>
        <dsp:cNvPr id="0" name=""/>
        <dsp:cNvSpPr/>
      </dsp:nvSpPr>
      <dsp:spPr>
        <a:xfrm>
          <a:off x="0" y="2524350"/>
          <a:ext cx="6628804" cy="2358719"/>
        </a:xfrm>
        <a:prstGeom prst="roundRect">
          <a:avLst/>
        </a:prstGeom>
        <a:gradFill rotWithShape="0">
          <a:gsLst>
            <a:gs pos="0">
              <a:schemeClr val="accent5">
                <a:hueOff val="2495256"/>
                <a:satOff val="-50489"/>
                <a:lumOff val="1569"/>
                <a:alphaOff val="0"/>
                <a:tint val="96000"/>
                <a:lumMod val="100000"/>
              </a:schemeClr>
            </a:gs>
            <a:gs pos="78000">
              <a:schemeClr val="accent5">
                <a:hueOff val="2495256"/>
                <a:satOff val="-50489"/>
                <a:lumOff val="1569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/>
            <a:t>Еще одной важной группой пользователей системы является администрация гостиницы</a:t>
          </a:r>
          <a:endParaRPr lang="en-US" sz="2400" kern="1200"/>
        </a:p>
      </dsp:txBody>
      <dsp:txXfrm>
        <a:off x="115143" y="2639493"/>
        <a:ext cx="6398518" cy="212843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F79E73-445F-4A6C-B343-B34580844AD1}">
      <dsp:nvSpPr>
        <dsp:cNvPr id="0" name=""/>
        <dsp:cNvSpPr/>
      </dsp:nvSpPr>
      <dsp:spPr>
        <a:xfrm>
          <a:off x="0" y="32762"/>
          <a:ext cx="6105524" cy="1492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/>
            <a:t>Конечный продукт дипломной работы представляет собой информационную систему для автоматизации деятельности гостиницы для животных. </a:t>
          </a:r>
          <a:endParaRPr lang="en-US" sz="2200" kern="1200"/>
        </a:p>
      </dsp:txBody>
      <dsp:txXfrm>
        <a:off x="72878" y="105640"/>
        <a:ext cx="5959768" cy="1347164"/>
      </dsp:txXfrm>
    </dsp:sp>
    <dsp:sp modelId="{B3BB8D98-6B2E-4EED-A0AE-F1539D35B845}">
      <dsp:nvSpPr>
        <dsp:cNvPr id="0" name=""/>
        <dsp:cNvSpPr/>
      </dsp:nvSpPr>
      <dsp:spPr>
        <a:xfrm>
          <a:off x="0" y="1525683"/>
          <a:ext cx="6105524" cy="3552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3850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700" kern="1200"/>
            <a:t>Ниже представлено подробное описание структуры конечного продукта, разделенное на основные компоненты: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700" kern="1200"/>
            <a:t>1. Пользовательский интерфейс (Frontend)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700" kern="1200"/>
            <a:t>Пользовательский интерфейс является связующим звеном между системой и ее пользователями.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700" kern="1200"/>
            <a:t>2. Логический слой (Backend)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700" kern="1200"/>
            <a:t>Логический слой отвечает за обработку данных, выполнение бизнес-логики и взаимодействие между пользовательским интерфейсом и базой данных.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700" kern="1200"/>
            <a:t>3. База данных (Database)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700" kern="1200"/>
            <a:t>База данных является основой хранения информации в системе. Она обеспечивает целостность данных, безопасность и возможность быстрого доступа.</a:t>
          </a:r>
          <a:endParaRPr lang="en-US" sz="1700" kern="1200"/>
        </a:p>
      </dsp:txBody>
      <dsp:txXfrm>
        <a:off x="0" y="1525683"/>
        <a:ext cx="6105524" cy="355212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97DE4E-D65D-47EA-B585-F4C07FCA079E}">
      <dsp:nvSpPr>
        <dsp:cNvPr id="0" name=""/>
        <dsp:cNvSpPr/>
      </dsp:nvSpPr>
      <dsp:spPr>
        <a:xfrm>
          <a:off x="0" y="765539"/>
          <a:ext cx="8654615" cy="84942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5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Для разработки информационной системы гостиницы для животных были выбраны языки программирования Python, HTML, CSS и Java. </a:t>
          </a:r>
          <a:endParaRPr lang="en-US" sz="1600" kern="1200" dirty="0"/>
        </a:p>
      </dsp:txBody>
      <dsp:txXfrm>
        <a:off x="41465" y="807004"/>
        <a:ext cx="8571685" cy="766490"/>
      </dsp:txXfrm>
    </dsp:sp>
    <dsp:sp modelId="{24A80014-FF6A-47E0-BC41-90935226F3E0}">
      <dsp:nvSpPr>
        <dsp:cNvPr id="0" name=""/>
        <dsp:cNvSpPr/>
      </dsp:nvSpPr>
      <dsp:spPr>
        <a:xfrm>
          <a:off x="0" y="1661039"/>
          <a:ext cx="8654615" cy="849420"/>
        </a:xfrm>
        <a:prstGeom prst="roundRect">
          <a:avLst/>
        </a:prstGeom>
        <a:gradFill rotWithShape="0">
          <a:gsLst>
            <a:gs pos="0">
              <a:schemeClr val="accent5">
                <a:hueOff val="499051"/>
                <a:satOff val="-10098"/>
                <a:lumOff val="314"/>
                <a:alphaOff val="0"/>
                <a:tint val="96000"/>
                <a:lumMod val="100000"/>
              </a:schemeClr>
            </a:gs>
            <a:gs pos="78000">
              <a:schemeClr val="accent5">
                <a:hueOff val="499051"/>
                <a:satOff val="-10098"/>
                <a:lumOff val="314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/>
            <a:t>Python был выбран в качестве основного языка для серверной части системы.</a:t>
          </a:r>
          <a:endParaRPr lang="en-US" sz="1600" kern="1200"/>
        </a:p>
      </dsp:txBody>
      <dsp:txXfrm>
        <a:off x="41465" y="1702504"/>
        <a:ext cx="8571685" cy="766490"/>
      </dsp:txXfrm>
    </dsp:sp>
    <dsp:sp modelId="{1DBF12FF-3D30-477C-8FB8-B38097A49F25}">
      <dsp:nvSpPr>
        <dsp:cNvPr id="0" name=""/>
        <dsp:cNvSpPr/>
      </dsp:nvSpPr>
      <dsp:spPr>
        <a:xfrm>
          <a:off x="0" y="2556539"/>
          <a:ext cx="8654615" cy="849420"/>
        </a:xfrm>
        <a:prstGeom prst="roundRect">
          <a:avLst/>
        </a:prstGeom>
        <a:gradFill rotWithShape="0">
          <a:gsLst>
            <a:gs pos="0">
              <a:schemeClr val="accent5">
                <a:hueOff val="998102"/>
                <a:satOff val="-20196"/>
                <a:lumOff val="628"/>
                <a:alphaOff val="0"/>
                <a:tint val="96000"/>
                <a:lumMod val="100000"/>
              </a:schemeClr>
            </a:gs>
            <a:gs pos="78000">
              <a:schemeClr val="accent5">
                <a:hueOff val="998102"/>
                <a:satOff val="-20196"/>
                <a:lumOff val="628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/>
            <a:t>HTML используется для формирования структуры веб-страниц информационной системы</a:t>
          </a:r>
          <a:endParaRPr lang="en-US" sz="1600" kern="1200"/>
        </a:p>
      </dsp:txBody>
      <dsp:txXfrm>
        <a:off x="41465" y="2598004"/>
        <a:ext cx="8571685" cy="766490"/>
      </dsp:txXfrm>
    </dsp:sp>
    <dsp:sp modelId="{A2788C96-D516-4EF7-904A-757DBBF02EB3}">
      <dsp:nvSpPr>
        <dsp:cNvPr id="0" name=""/>
        <dsp:cNvSpPr/>
      </dsp:nvSpPr>
      <dsp:spPr>
        <a:xfrm>
          <a:off x="0" y="3452039"/>
          <a:ext cx="8654615" cy="849420"/>
        </a:xfrm>
        <a:prstGeom prst="roundRect">
          <a:avLst/>
        </a:prstGeom>
        <a:gradFill rotWithShape="0">
          <a:gsLst>
            <a:gs pos="0">
              <a:schemeClr val="accent5">
                <a:hueOff val="1497154"/>
                <a:satOff val="-30293"/>
                <a:lumOff val="941"/>
                <a:alphaOff val="0"/>
                <a:tint val="96000"/>
                <a:lumMod val="100000"/>
              </a:schemeClr>
            </a:gs>
            <a:gs pos="78000">
              <a:schemeClr val="accent5">
                <a:hueOff val="1497154"/>
                <a:satOff val="-30293"/>
                <a:lumOff val="941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/>
            <a:t>CSS (Cascading Style Sheets) применяется для визуального оформления веб-интерфейса системы. </a:t>
          </a:r>
          <a:endParaRPr lang="en-US" sz="1600" kern="1200"/>
        </a:p>
      </dsp:txBody>
      <dsp:txXfrm>
        <a:off x="41465" y="3493504"/>
        <a:ext cx="8571685" cy="766490"/>
      </dsp:txXfrm>
    </dsp:sp>
    <dsp:sp modelId="{9BCEFF9C-2856-49BB-A7EC-9765174658E7}">
      <dsp:nvSpPr>
        <dsp:cNvPr id="0" name=""/>
        <dsp:cNvSpPr/>
      </dsp:nvSpPr>
      <dsp:spPr>
        <a:xfrm>
          <a:off x="0" y="4347539"/>
          <a:ext cx="8654615" cy="849420"/>
        </a:xfrm>
        <a:prstGeom prst="roundRect">
          <a:avLst/>
        </a:prstGeom>
        <a:gradFill rotWithShape="0">
          <a:gsLst>
            <a:gs pos="0">
              <a:schemeClr val="accent5">
                <a:hueOff val="1996205"/>
                <a:satOff val="-40391"/>
                <a:lumOff val="1255"/>
                <a:alphaOff val="0"/>
                <a:tint val="96000"/>
                <a:lumMod val="100000"/>
              </a:schemeClr>
            </a:gs>
            <a:gs pos="78000">
              <a:schemeClr val="accent5">
                <a:hueOff val="1996205"/>
                <a:satOff val="-40391"/>
                <a:lumOff val="1255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/>
            <a:t>Java используется для разработки дополнительных модулей системы, которые требуют высокой производительности, надежности и безопасности. </a:t>
          </a:r>
          <a:endParaRPr lang="en-US" sz="1600" kern="1200"/>
        </a:p>
      </dsp:txBody>
      <dsp:txXfrm>
        <a:off x="41465" y="4389004"/>
        <a:ext cx="8571685" cy="766490"/>
      </dsp:txXfrm>
    </dsp:sp>
    <dsp:sp modelId="{570CC24D-C6F9-425B-9DC1-3B2683C27BA1}">
      <dsp:nvSpPr>
        <dsp:cNvPr id="0" name=""/>
        <dsp:cNvSpPr/>
      </dsp:nvSpPr>
      <dsp:spPr>
        <a:xfrm>
          <a:off x="0" y="5243039"/>
          <a:ext cx="8654615" cy="849420"/>
        </a:xfrm>
        <a:prstGeom prst="roundRect">
          <a:avLst/>
        </a:prstGeom>
        <a:gradFill rotWithShape="0">
          <a:gsLst>
            <a:gs pos="0">
              <a:schemeClr val="accent5">
                <a:hueOff val="2495256"/>
                <a:satOff val="-50489"/>
                <a:lumOff val="1569"/>
                <a:alphaOff val="0"/>
                <a:tint val="96000"/>
                <a:lumMod val="100000"/>
              </a:schemeClr>
            </a:gs>
            <a:gs pos="78000">
              <a:schemeClr val="accent5">
                <a:hueOff val="2495256"/>
                <a:satOff val="-50489"/>
                <a:lumOff val="1569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/>
            <a:t>Таким образом, комбинация Python, HTML, CSS и Java обеспечивает создание комплексной информационной системы, которая сочетает удобный веб-интерфейс, надежную серверную часть, масштабируемость и высокую производительность. </a:t>
          </a:r>
          <a:endParaRPr lang="en-US" sz="1600" kern="1200"/>
        </a:p>
      </dsp:txBody>
      <dsp:txXfrm>
        <a:off x="41465" y="5284504"/>
        <a:ext cx="8571685" cy="7664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022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891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624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440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282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480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875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835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892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722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74877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7059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265401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4840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2159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645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943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3">
            <a:extLst>
              <a:ext uri="{FF2B5EF4-FFF2-40B4-BE49-F238E27FC236}">
                <a16:creationId xmlns:a16="http://schemas.microsoft.com/office/drawing/2014/main" id="{43961AFC-D409-B854-2E21-D8C863862BC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7119" b="8612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46FF08-2294-8F56-FAE5-E97177CCB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5021182" cy="3290107"/>
          </a:xfrm>
        </p:spPr>
        <p:txBody>
          <a:bodyPr anchor="t">
            <a:normAutofit/>
          </a:bodyPr>
          <a:lstStyle/>
          <a:p>
            <a:r>
              <a:rPr lang="ru-RU" sz="6000" dirty="0">
                <a:solidFill>
                  <a:srgbClr val="FFFFFF"/>
                </a:solidFill>
              </a:rPr>
              <a:t>Дипломная работа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33CF3F8-9D3D-F6FC-B349-AC8F701A49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05856" y="508090"/>
            <a:ext cx="6199632" cy="6084734"/>
          </a:xfrm>
        </p:spPr>
        <p:txBody>
          <a:bodyPr anchor="t">
            <a:normAutofit/>
          </a:bodyPr>
          <a:lstStyle/>
          <a:p>
            <a:r>
              <a:rPr lang="ru-RU" b="1" dirty="0"/>
              <a:t>Проект создания информационной системы для гостиницы для домашних животных «Вокруг света»</a:t>
            </a:r>
          </a:p>
          <a:p>
            <a:r>
              <a:rPr lang="ru-RU" b="1" dirty="0"/>
              <a:t>Ямальский Многопрофильный Колледж</a:t>
            </a:r>
          </a:p>
          <a:p>
            <a:r>
              <a:rPr lang="ru-RU" b="1" dirty="0"/>
              <a:t>Отделение Технического профиля, 4 курс</a:t>
            </a:r>
          </a:p>
          <a:p>
            <a:r>
              <a:rPr lang="ru-RU" b="1" dirty="0"/>
              <a:t>22 «</a:t>
            </a:r>
            <a:r>
              <a:rPr lang="ru-RU" b="1" dirty="0" err="1"/>
              <a:t>ИСиП</a:t>
            </a:r>
            <a:r>
              <a:rPr lang="ru-RU" b="1" dirty="0"/>
              <a:t>» - «Информационные системы и программирование»,</a:t>
            </a:r>
          </a:p>
          <a:p>
            <a:r>
              <a:rPr lang="ru-RU" b="1" dirty="0"/>
              <a:t>Манямов Михаил Евгеньевич</a:t>
            </a:r>
          </a:p>
          <a:p>
            <a:r>
              <a:rPr lang="ru-RU" b="1" dirty="0"/>
              <a:t>Руководитель – Рыбин Юрий Иванович</a:t>
            </a:r>
          </a:p>
          <a:p>
            <a:r>
              <a:rPr lang="ru-RU" b="1" dirty="0"/>
              <a:t>2025 ЯНАО, Салехард</a:t>
            </a:r>
          </a:p>
        </p:txBody>
      </p:sp>
    </p:spTree>
    <p:extLst>
      <p:ext uri="{BB962C8B-B14F-4D97-AF65-F5344CB8AC3E}">
        <p14:creationId xmlns:p14="http://schemas.microsoft.com/office/powerpoint/2010/main" val="31504345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Процессор">
            <a:extLst>
              <a:ext uri="{FF2B5EF4-FFF2-40B4-BE49-F238E27FC236}">
                <a16:creationId xmlns:a16="http://schemas.microsoft.com/office/drawing/2014/main" id="{9788857C-D501-6225-419A-FC78AC30BE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7867" y="2429691"/>
            <a:ext cx="3916313" cy="39163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C14A3F-A83F-EFED-517E-2D38C06D0A21}"/>
              </a:ext>
            </a:extLst>
          </p:cNvPr>
          <p:cNvSpPr txBox="1"/>
          <p:nvPr/>
        </p:nvSpPr>
        <p:spPr>
          <a:xfrm>
            <a:off x="5263566" y="5051379"/>
            <a:ext cx="6096000" cy="961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>
              <a:lnSpc>
                <a:spcPct val="107000"/>
              </a:lnSpc>
              <a:buNone/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Именно поэтому использование современных информационных систем является важным условием успешного функционирования организаций.</a:t>
            </a:r>
          </a:p>
        </p:txBody>
      </p:sp>
      <p:graphicFrame>
        <p:nvGraphicFramePr>
          <p:cNvPr id="18" name="TextBox 2">
            <a:extLst>
              <a:ext uri="{FF2B5EF4-FFF2-40B4-BE49-F238E27FC236}">
                <a16:creationId xmlns:a16="http://schemas.microsoft.com/office/drawing/2014/main" id="{CD34C7F4-C60A-17FA-25DE-8E2950060A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127800"/>
              </p:ext>
            </p:extLst>
          </p:nvPr>
        </p:nvGraphicFramePr>
        <p:xfrm>
          <a:off x="5502524" y="-1508760"/>
          <a:ext cx="6081381" cy="8732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1750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6" descr="Город">
            <a:extLst>
              <a:ext uri="{FF2B5EF4-FFF2-40B4-BE49-F238E27FC236}">
                <a16:creationId xmlns:a16="http://schemas.microsoft.com/office/drawing/2014/main" id="{B7F40620-EBF7-8AA4-BE05-08C6733EEB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7867" y="2429691"/>
            <a:ext cx="3916313" cy="39163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947885-93E9-F713-CF18-00C4B20039E8}"/>
              </a:ext>
            </a:extLst>
          </p:cNvPr>
          <p:cNvSpPr txBox="1"/>
          <p:nvPr/>
        </p:nvSpPr>
        <p:spPr>
          <a:xfrm>
            <a:off x="7507224" y="1088136"/>
            <a:ext cx="4160520" cy="525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effectLst/>
              </a:rPr>
              <a:t> Функционирование гостиницы для животных связано с обработкой большого объема информации.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effectLst/>
              </a:rPr>
              <a:t>При увеличении количества клиентов объем информации также возрастает, что усложняет управление данными при использовании традиционных способов учета.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effectLst/>
              </a:rPr>
              <a:t> В связи с этим возникает необходимость внедрения специализированной информационной системы, которая позволит автоматизировать основные процессы деятельности гостиницы для животных</a:t>
            </a:r>
          </a:p>
        </p:txBody>
      </p:sp>
    </p:spTree>
    <p:extLst>
      <p:ext uri="{BB962C8B-B14F-4D97-AF65-F5344CB8AC3E}">
        <p14:creationId xmlns:p14="http://schemas.microsoft.com/office/powerpoint/2010/main" val="4110990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 descr="Head with Gears">
            <a:extLst>
              <a:ext uri="{FF2B5EF4-FFF2-40B4-BE49-F238E27FC236}">
                <a16:creationId xmlns:a16="http://schemas.microsoft.com/office/drawing/2014/main" id="{469559AF-D393-BC58-B9BC-BAAD3781CC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7867" y="2429691"/>
            <a:ext cx="3916313" cy="39163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0F67D2-1F8D-94A4-BC53-8C99753DD0A3}"/>
              </a:ext>
            </a:extLst>
          </p:cNvPr>
          <p:cNvSpPr txBox="1"/>
          <p:nvPr/>
        </p:nvSpPr>
        <p:spPr>
          <a:xfrm>
            <a:off x="7507224" y="1088136"/>
            <a:ext cx="4160520" cy="525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effectLst/>
              </a:rPr>
              <a:t>Актуальность данной работы обусловлена необходимостью разработки информационной системы, которая позволит автоматизировать процессы управления деятельностью гостиницы для животных. Создание такой системы позволит повысить эффективность обработки информации, улучшить организацию работы сотрудников и повысить качество предоставляемых услуг.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607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174D0E-B059-21B0-11AD-0CC64EE50DA0}"/>
              </a:ext>
            </a:extLst>
          </p:cNvPr>
          <p:cNvSpPr txBox="1"/>
          <p:nvPr/>
        </p:nvSpPr>
        <p:spPr>
          <a:xfrm>
            <a:off x="517869" y="9022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 err="1">
                <a:effectLst/>
              </a:rPr>
              <a:t>Целью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данной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дипломной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работы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является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проектирование</a:t>
            </a:r>
            <a:r>
              <a:rPr lang="en-US" sz="2800" dirty="0">
                <a:effectLst/>
              </a:rPr>
              <a:t> и </a:t>
            </a:r>
            <a:r>
              <a:rPr lang="en-US" sz="2800" dirty="0" err="1">
                <a:effectLst/>
              </a:rPr>
              <a:t>разработка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информационной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системы</a:t>
            </a:r>
            <a:r>
              <a:rPr lang="en-US" sz="2800" dirty="0">
                <a:effectLst/>
              </a:rPr>
              <a:t>, </a:t>
            </a:r>
            <a:r>
              <a:rPr lang="en-US" sz="2800" dirty="0" err="1">
                <a:effectLst/>
              </a:rPr>
              <a:t>предназначенной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для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автоматизации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основных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процессов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деятельности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гостиницы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для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животных</a:t>
            </a:r>
            <a:r>
              <a:rPr lang="en-US" sz="2800" dirty="0">
                <a:effectLst/>
              </a:rPr>
              <a:t>. </a:t>
            </a:r>
            <a:r>
              <a:rPr lang="en-US" sz="2800" dirty="0" err="1">
                <a:effectLst/>
              </a:rPr>
              <a:t>Создание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такой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системы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направлено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на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повышение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эффективности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работы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сотрудников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организации</a:t>
            </a:r>
            <a:r>
              <a:rPr lang="en-US" sz="2800" dirty="0">
                <a:effectLst/>
              </a:rPr>
              <a:t>, </a:t>
            </a:r>
            <a:r>
              <a:rPr lang="en-US" sz="2800" dirty="0" err="1">
                <a:effectLst/>
              </a:rPr>
              <a:t>упрощение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процесса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обработки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информации</a:t>
            </a:r>
            <a:r>
              <a:rPr lang="en-US" sz="2800" dirty="0">
                <a:effectLst/>
              </a:rPr>
              <a:t>, а </a:t>
            </a:r>
            <a:r>
              <a:rPr lang="en-US" sz="2800" dirty="0" err="1">
                <a:effectLst/>
              </a:rPr>
              <a:t>также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улучшение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качества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обслуживания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клиентов</a:t>
            </a:r>
            <a:r>
              <a:rPr lang="en-US" sz="2800" dirty="0">
                <a:effectLst/>
              </a:rPr>
              <a:t>.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95309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D920209C-E85B-4D6F-A56F-724F5ADA8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3">
              <a:extLst>
                <a:ext uri="{FF2B5EF4-FFF2-40B4-BE49-F238E27FC236}">
                  <a16:creationId xmlns:a16="http://schemas.microsoft.com/office/drawing/2014/main" id="{9125522E-1DFD-4F78-912B-B922A2D39D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DA72C10-FE9D-49B3-80CB-A7EE8BCB38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E7DF470-1055-45E4-AB9D-11E42EC53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7" name="Rectangle 25">
              <a:extLst>
                <a:ext uri="{FF2B5EF4-FFF2-40B4-BE49-F238E27FC236}">
                  <a16:creationId xmlns:a16="http://schemas.microsoft.com/office/drawing/2014/main" id="{6AA35CFF-3837-4B7F-B875-718AC2E14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62F41804-A347-47E3-8BD8-BD00CF2F64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9" name="Rectangle 27">
              <a:extLst>
                <a:ext uri="{FF2B5EF4-FFF2-40B4-BE49-F238E27FC236}">
                  <a16:creationId xmlns:a16="http://schemas.microsoft.com/office/drawing/2014/main" id="{76894B81-EE9C-4546-BCFA-DD9ED2C0AD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0" name="Rectangle 28">
              <a:extLst>
                <a:ext uri="{FF2B5EF4-FFF2-40B4-BE49-F238E27FC236}">
                  <a16:creationId xmlns:a16="http://schemas.microsoft.com/office/drawing/2014/main" id="{3AF181D1-71AC-43D8-A6E1-D4C488D5DC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1" name="Rectangle 29">
              <a:extLst>
                <a:ext uri="{FF2B5EF4-FFF2-40B4-BE49-F238E27FC236}">
                  <a16:creationId xmlns:a16="http://schemas.microsoft.com/office/drawing/2014/main" id="{4132D661-917C-4D2D-8E37-8590B55D9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7969643D-8B71-434D-A235-68CB241F9D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DF15C24A-4BCF-47C0-B2FA-76A0EF3384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</p:grp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267" y="-8467"/>
            <a:ext cx="4766733" cy="6866467"/>
            <a:chOff x="7425267" y="-8467"/>
            <a:chExt cx="4766733" cy="6866467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31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33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34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35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77719" y="0"/>
            <a:ext cx="621428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TextBox 6">
            <a:extLst>
              <a:ext uri="{FF2B5EF4-FFF2-40B4-BE49-F238E27FC236}">
                <a16:creationId xmlns:a16="http://schemas.microsoft.com/office/drawing/2014/main" id="{F6D4E51E-DF4A-663C-F54A-9415909C4E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7406183"/>
              </p:ext>
            </p:extLst>
          </p:nvPr>
        </p:nvGraphicFramePr>
        <p:xfrm>
          <a:off x="4916553" y="944563"/>
          <a:ext cx="6628804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67349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920209C-E85B-4D6F-A56F-724F5ADA8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125522E-1DFD-4F78-912B-B922A2D39D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DA72C10-FE9D-49B3-80CB-A7EE8BCB38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6E7DF470-1055-45E4-AB9D-11E42EC53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6AA35CFF-3837-4B7F-B875-718AC2E14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62F41804-A347-47E3-8BD8-BD00CF2F64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76894B81-EE9C-4546-BCFA-DD9ED2C0AD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3AF181D1-71AC-43D8-A6E1-D4C488D5DC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4132D661-917C-4D2D-8E37-8590B55D9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7969643D-8B71-434D-A235-68CB241F9D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DF15C24A-4BCF-47C0-B2FA-76A0EF3384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</p:grp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267" y="-8467"/>
            <a:ext cx="4766733" cy="6866467"/>
            <a:chOff x="7425267" y="-8467"/>
            <a:chExt cx="4766733" cy="686646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7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9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30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77719" y="0"/>
            <a:ext cx="621428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A10885F7-276D-12EB-D0CB-3A63F28FA2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8021153"/>
              </p:ext>
            </p:extLst>
          </p:nvPr>
        </p:nvGraphicFramePr>
        <p:xfrm>
          <a:off x="4916553" y="944563"/>
          <a:ext cx="6628804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97288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920209C-E85B-4D6F-A56F-724F5ADA8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125522E-1DFD-4F78-912B-B922A2D39D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DA72C10-FE9D-49B3-80CB-A7EE8BCB38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6E7DF470-1055-45E4-AB9D-11E42EC53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6AA35CFF-3837-4B7F-B875-718AC2E14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62F41804-A347-47E3-8BD8-BD00CF2F64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76894B81-EE9C-4546-BCFA-DD9ED2C0AD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3AF181D1-71AC-43D8-A6E1-D4C488D5DC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4132D661-917C-4D2D-8E37-8590B55D9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7969643D-8B71-434D-A235-68CB241F9D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DF15C24A-4BCF-47C0-B2FA-76A0EF3384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</p:grp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267" y="-8467"/>
            <a:ext cx="4766733" cy="6866467"/>
            <a:chOff x="7425267" y="-8467"/>
            <a:chExt cx="4766733" cy="686646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7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9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30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77719" y="0"/>
            <a:ext cx="621428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99D4A396-0924-C6AB-446C-EAEF560781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7858903"/>
              </p:ext>
            </p:extLst>
          </p:nvPr>
        </p:nvGraphicFramePr>
        <p:xfrm>
          <a:off x="4916553" y="944563"/>
          <a:ext cx="6628804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93382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920209C-E85B-4D6F-A56F-724F5ADA8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125522E-1DFD-4F78-912B-B922A2D39D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DA72C10-FE9D-49B3-80CB-A7EE8BCB38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6E7DF470-1055-45E4-AB9D-11E42EC53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6AA35CFF-3837-4B7F-B875-718AC2E14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62F41804-A347-47E3-8BD8-BD00CF2F64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76894B81-EE9C-4546-BCFA-DD9ED2C0AD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3AF181D1-71AC-43D8-A6E1-D4C488D5DC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4132D661-917C-4D2D-8E37-8590B55D9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7969643D-8B71-434D-A235-68CB241F9D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DF15C24A-4BCF-47C0-B2FA-76A0EF3384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</p:grp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267" y="-8467"/>
            <a:ext cx="4766733" cy="6866467"/>
            <a:chOff x="7425267" y="-8467"/>
            <a:chExt cx="4766733" cy="686646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7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9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30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77719" y="0"/>
            <a:ext cx="621428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4D6BA632-0C2A-B826-4F78-358F1101F5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05131747"/>
              </p:ext>
            </p:extLst>
          </p:nvPr>
        </p:nvGraphicFramePr>
        <p:xfrm>
          <a:off x="4916553" y="944563"/>
          <a:ext cx="6628804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59399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920209C-E85B-4D6F-A56F-724F5ADA8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125522E-1DFD-4F78-912B-B922A2D39D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DA72C10-FE9D-49B3-80CB-A7EE8BCB38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6E7DF470-1055-45E4-AB9D-11E42EC53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6AA35CFF-3837-4B7F-B875-718AC2E14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62F41804-A347-47E3-8BD8-BD00CF2F64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76894B81-EE9C-4546-BCFA-DD9ED2C0AD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3AF181D1-71AC-43D8-A6E1-D4C488D5DC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4132D661-917C-4D2D-8E37-8590B55D9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7969643D-8B71-434D-A235-68CB241F9D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DF15C24A-4BCF-47C0-B2FA-76A0EF3384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</p:grp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267" y="-8467"/>
            <a:ext cx="4766733" cy="6866467"/>
            <a:chOff x="7425267" y="-8467"/>
            <a:chExt cx="4766733" cy="686646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7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9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30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77719" y="0"/>
            <a:ext cx="621428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F1051179-DB4D-3962-CAED-2A19ABC53D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0323139"/>
              </p:ext>
            </p:extLst>
          </p:nvPr>
        </p:nvGraphicFramePr>
        <p:xfrm>
          <a:off x="4916553" y="944563"/>
          <a:ext cx="6628804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26642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EA810C3D-ABDD-657D-1B37-916E42D46146}"/>
              </a:ext>
            </a:extLst>
          </p:cNvPr>
          <p:cNvGraphicFramePr/>
          <p:nvPr/>
        </p:nvGraphicFramePr>
        <p:xfrm>
          <a:off x="3052763" y="730298"/>
          <a:ext cx="6105524" cy="51105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30317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9EA7EA7-74F5-4EE2-8E3D-1A1030825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5CE79B5-7EE4-424D-AD14-5DEFB61B8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96C926F-F999-44BA-8D86-9EAB51D650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248745E7-0AF0-48F9-8E58-2673FC5F4F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9715E81A-D2E0-4431-9370-4E4A9ECA7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CEDB37A9-282D-4DDB-85AD-B2090A825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533D5933-7F91-4F5E-BC31-42FD0E2D8D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37ADDF68-C9BE-46EA-83DE-2C07DD839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10D67396-BABD-48A8-A892-CCB5095FA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626DA82A-72C2-4DF6-9CF0-0D1F6B96B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8EE6DC63-4380-4BE0-A68A-8F01162BD1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</p:grp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53376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133042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24631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32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6597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5488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36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655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14821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142BFA2A-77A0-4F60-A32A-685681C84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2154" y="-8467"/>
            <a:ext cx="7109846" cy="6866467"/>
          </a:xfrm>
          <a:custGeom>
            <a:avLst/>
            <a:gdLst>
              <a:gd name="connsiteX0" fmla="*/ 0 w 7109846"/>
              <a:gd name="connsiteY0" fmla="*/ 0 h 6866467"/>
              <a:gd name="connsiteX1" fmla="*/ 1249825 w 7109846"/>
              <a:gd name="connsiteY1" fmla="*/ 0 h 6866467"/>
              <a:gd name="connsiteX2" fmla="*/ 1249825 w 7109846"/>
              <a:gd name="connsiteY2" fmla="*/ 8467 h 6866467"/>
              <a:gd name="connsiteX3" fmla="*/ 7109846 w 7109846"/>
              <a:gd name="connsiteY3" fmla="*/ 8467 h 6866467"/>
              <a:gd name="connsiteX4" fmla="*/ 7109846 w 7109846"/>
              <a:gd name="connsiteY4" fmla="*/ 6866467 h 6866467"/>
              <a:gd name="connsiteX5" fmla="*/ 1249825 w 7109846"/>
              <a:gd name="connsiteY5" fmla="*/ 6866467 h 6866467"/>
              <a:gd name="connsiteX6" fmla="*/ 1109382 w 7109846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09846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7109846" y="8467"/>
                </a:lnTo>
                <a:lnTo>
                  <a:pt x="7109846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8149F7-2C08-E144-A536-FCBF98DA912E}"/>
              </a:ext>
            </a:extLst>
          </p:cNvPr>
          <p:cNvSpPr txBox="1"/>
          <p:nvPr/>
        </p:nvSpPr>
        <p:spPr>
          <a:xfrm>
            <a:off x="6116084" y="609601"/>
            <a:ext cx="5511296" cy="51756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 err="1">
                <a:solidFill>
                  <a:srgbClr val="FFFFFF"/>
                </a:solidFill>
                <a:effectLst/>
              </a:rPr>
              <a:t>Для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разработки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информационной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системы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гостиницы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для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животных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требуется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соответствующая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аппаратная</a:t>
            </a:r>
            <a:r>
              <a:rPr lang="en-US" dirty="0">
                <a:solidFill>
                  <a:srgbClr val="FFFFFF"/>
                </a:solidFill>
                <a:effectLst/>
              </a:rPr>
              <a:t> и </a:t>
            </a:r>
            <a:r>
              <a:rPr lang="en-US" dirty="0" err="1">
                <a:solidFill>
                  <a:srgbClr val="FFFFFF"/>
                </a:solidFill>
                <a:effectLst/>
              </a:rPr>
              <a:t>программная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база</a:t>
            </a:r>
            <a:r>
              <a:rPr lang="en-US" dirty="0">
                <a:solidFill>
                  <a:srgbClr val="FFFFFF"/>
                </a:solidFill>
                <a:effectLst/>
              </a:rPr>
              <a:t>. </a:t>
            </a:r>
          </a:p>
          <a:p>
            <a:pPr indent="450215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tabLst>
                <a:tab pos="457200" algn="l"/>
              </a:tabLst>
            </a:pPr>
            <a:r>
              <a:rPr lang="en-US" dirty="0" err="1">
                <a:solidFill>
                  <a:srgbClr val="FFFFFF"/>
                </a:solidFill>
                <a:effectLst/>
              </a:rPr>
              <a:t>Средства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разработки</a:t>
            </a:r>
            <a:endParaRPr lang="en-US" dirty="0">
              <a:solidFill>
                <a:srgbClr val="FFFFFF"/>
              </a:solidFill>
              <a:effectLst/>
            </a:endParaRPr>
          </a:p>
          <a:p>
            <a:pPr indent="450215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tabLst>
                <a:tab pos="457200" algn="l"/>
              </a:tabLst>
            </a:pPr>
            <a:r>
              <a:rPr lang="en-US" dirty="0" err="1">
                <a:solidFill>
                  <a:srgbClr val="FFFFFF"/>
                </a:solidFill>
                <a:effectLst/>
              </a:rPr>
              <a:t>Языки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программирования</a:t>
            </a:r>
            <a:r>
              <a:rPr lang="en-US" dirty="0">
                <a:solidFill>
                  <a:srgbClr val="FFFFFF"/>
                </a:solidFill>
                <a:effectLst/>
              </a:rPr>
              <a:t>:</a:t>
            </a:r>
          </a:p>
          <a:p>
            <a:pPr indent="450215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tabLst>
                <a:tab pos="457200" algn="l"/>
              </a:tabLst>
            </a:pPr>
            <a:r>
              <a:rPr lang="en-US" dirty="0">
                <a:solidFill>
                  <a:srgbClr val="FFFFFF"/>
                </a:solidFill>
                <a:effectLst/>
              </a:rPr>
              <a:t>  Python </a:t>
            </a:r>
            <a:r>
              <a:rPr lang="en-US" dirty="0" err="1">
                <a:solidFill>
                  <a:srgbClr val="FFFFFF"/>
                </a:solidFill>
                <a:effectLst/>
              </a:rPr>
              <a:t>для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реализации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серверной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части</a:t>
            </a:r>
            <a:r>
              <a:rPr lang="en-US" dirty="0">
                <a:solidFill>
                  <a:srgbClr val="FFFFFF"/>
                </a:solidFill>
                <a:effectLst/>
              </a:rPr>
              <a:t>.</a:t>
            </a:r>
          </a:p>
          <a:p>
            <a:pPr indent="450215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tabLst>
                <a:tab pos="457200" algn="l"/>
              </a:tabLst>
            </a:pPr>
            <a:r>
              <a:rPr lang="en-US" dirty="0">
                <a:solidFill>
                  <a:srgbClr val="FFFFFF"/>
                </a:solidFill>
                <a:effectLst/>
              </a:rPr>
              <a:t>  </a:t>
            </a:r>
            <a:r>
              <a:rPr lang="en-US" dirty="0" err="1">
                <a:solidFill>
                  <a:srgbClr val="FFFFFF"/>
                </a:solidFill>
                <a:effectLst/>
              </a:rPr>
              <a:t>css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для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разработки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пользовательского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интерфейса</a:t>
            </a:r>
            <a:r>
              <a:rPr lang="en-US" dirty="0">
                <a:solidFill>
                  <a:srgbClr val="FFFFFF"/>
                </a:solidFill>
                <a:effectLst/>
              </a:rPr>
              <a:t>.</a:t>
            </a:r>
          </a:p>
          <a:p>
            <a:pPr indent="450215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tabLst>
                <a:tab pos="457200" algn="l"/>
              </a:tabLst>
            </a:pPr>
            <a:r>
              <a:rPr lang="en-US" dirty="0" err="1">
                <a:solidFill>
                  <a:srgbClr val="FFFFFF"/>
                </a:solidFill>
                <a:effectLst/>
              </a:rPr>
              <a:t>Среда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разработки</a:t>
            </a:r>
            <a:r>
              <a:rPr lang="en-US" dirty="0">
                <a:solidFill>
                  <a:srgbClr val="FFFFFF"/>
                </a:solidFill>
                <a:effectLst/>
              </a:rPr>
              <a:t> (IDE):</a:t>
            </a:r>
          </a:p>
          <a:p>
            <a:pPr indent="450215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tabLst>
                <a:tab pos="457200" algn="l"/>
              </a:tabLst>
            </a:pPr>
            <a:r>
              <a:rPr lang="en-US" dirty="0">
                <a:solidFill>
                  <a:srgbClr val="FFFFFF"/>
                </a:solidFill>
                <a:effectLst/>
              </a:rPr>
              <a:t> PyCharm - </a:t>
            </a:r>
            <a:r>
              <a:rPr lang="en-US" dirty="0" err="1">
                <a:solidFill>
                  <a:srgbClr val="FFFFFF"/>
                </a:solidFill>
                <a:effectLst/>
              </a:rPr>
              <a:t>для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удобного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написания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кода</a:t>
            </a:r>
            <a:r>
              <a:rPr lang="en-US" dirty="0">
                <a:solidFill>
                  <a:srgbClr val="FFFFFF"/>
                </a:solidFill>
                <a:effectLst/>
              </a:rPr>
              <a:t>, </a:t>
            </a:r>
            <a:r>
              <a:rPr lang="en-US" dirty="0" err="1">
                <a:solidFill>
                  <a:srgbClr val="FFFFFF"/>
                </a:solidFill>
                <a:effectLst/>
              </a:rPr>
              <a:t>отладки</a:t>
            </a:r>
            <a:r>
              <a:rPr lang="en-US" dirty="0">
                <a:solidFill>
                  <a:srgbClr val="FFFFFF"/>
                </a:solidFill>
                <a:effectLst/>
              </a:rPr>
              <a:t> и </a:t>
            </a:r>
            <a:r>
              <a:rPr lang="en-US" dirty="0" err="1">
                <a:solidFill>
                  <a:srgbClr val="FFFFFF"/>
                </a:solidFill>
                <a:effectLst/>
              </a:rPr>
              <a:t>тестирования</a:t>
            </a:r>
            <a:r>
              <a:rPr lang="en-US" dirty="0">
                <a:solidFill>
                  <a:srgbClr val="FFFFFF"/>
                </a:solidFill>
                <a:effectLst/>
              </a:rPr>
              <a:t>.</a:t>
            </a:r>
          </a:p>
          <a:p>
            <a:pPr indent="450215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tabLst>
                <a:tab pos="457200" algn="l"/>
              </a:tabLst>
            </a:pPr>
            <a:r>
              <a:rPr lang="en-US" dirty="0" err="1">
                <a:solidFill>
                  <a:srgbClr val="FFFFFF"/>
                </a:solidFill>
                <a:effectLst/>
              </a:rPr>
              <a:t>Системы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контроля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версий</a:t>
            </a:r>
            <a:r>
              <a:rPr lang="en-US" dirty="0">
                <a:solidFill>
                  <a:srgbClr val="FFFFFF"/>
                </a:solidFill>
                <a:effectLst/>
              </a:rPr>
              <a:t>:</a:t>
            </a:r>
          </a:p>
          <a:p>
            <a:pPr indent="450215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tabLst>
                <a:tab pos="457200" algn="l"/>
              </a:tabLst>
            </a:pPr>
            <a:r>
              <a:rPr lang="en-US" dirty="0">
                <a:solidFill>
                  <a:srgbClr val="FFFFFF"/>
                </a:solidFill>
                <a:effectLst/>
              </a:rPr>
              <a:t> GitHub </a:t>
            </a:r>
            <a:r>
              <a:rPr lang="en-US" dirty="0" err="1">
                <a:solidFill>
                  <a:srgbClr val="FFFFFF"/>
                </a:solidFill>
                <a:effectLst/>
              </a:rPr>
              <a:t>для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совместной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работы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над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проектом</a:t>
            </a:r>
            <a:r>
              <a:rPr lang="en-US" dirty="0">
                <a:solidFill>
                  <a:srgbClr val="FFFFFF"/>
                </a:solidFill>
                <a:effectLst/>
              </a:rPr>
              <a:t> и </a:t>
            </a:r>
            <a:r>
              <a:rPr lang="en-US" dirty="0" err="1">
                <a:solidFill>
                  <a:srgbClr val="FFFFFF"/>
                </a:solidFill>
                <a:effectLst/>
              </a:rPr>
              <a:t>ведения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истории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2319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9EA7EA7-74F5-4EE2-8E3D-1A1030825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5CE79B5-7EE4-424D-AD14-5DEFB61B8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96C926F-F999-44BA-8D86-9EAB51D650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23">
              <a:extLst>
                <a:ext uri="{FF2B5EF4-FFF2-40B4-BE49-F238E27FC236}">
                  <a16:creationId xmlns:a16="http://schemas.microsoft.com/office/drawing/2014/main" id="{248745E7-0AF0-48F9-8E58-2673FC5F4F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2" name="Rectangle 25">
              <a:extLst>
                <a:ext uri="{FF2B5EF4-FFF2-40B4-BE49-F238E27FC236}">
                  <a16:creationId xmlns:a16="http://schemas.microsoft.com/office/drawing/2014/main" id="{9715E81A-D2E0-4431-9370-4E4A9ECA7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CEDB37A9-282D-4DDB-85AD-B2090A825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4" name="Rectangle 27">
              <a:extLst>
                <a:ext uri="{FF2B5EF4-FFF2-40B4-BE49-F238E27FC236}">
                  <a16:creationId xmlns:a16="http://schemas.microsoft.com/office/drawing/2014/main" id="{533D5933-7F91-4F5E-BC31-42FD0E2D8D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5" name="Rectangle 28">
              <a:extLst>
                <a:ext uri="{FF2B5EF4-FFF2-40B4-BE49-F238E27FC236}">
                  <a16:creationId xmlns:a16="http://schemas.microsoft.com/office/drawing/2014/main" id="{37ADDF68-C9BE-46EA-83DE-2C07DD839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6" name="Rectangle 29">
              <a:extLst>
                <a:ext uri="{FF2B5EF4-FFF2-40B4-BE49-F238E27FC236}">
                  <a16:creationId xmlns:a16="http://schemas.microsoft.com/office/drawing/2014/main" id="{10D67396-BABD-48A8-A892-CCB5095FA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626DA82A-72C2-4DF6-9CF0-0D1F6B96B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8EE6DC63-4380-4BE0-A68A-8F01162BD1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</p:grp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53376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133042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24631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30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6597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5488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34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655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14821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142BFA2A-77A0-4F60-A32A-685681C84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2154" y="-8467"/>
            <a:ext cx="7109846" cy="6866467"/>
          </a:xfrm>
          <a:custGeom>
            <a:avLst/>
            <a:gdLst>
              <a:gd name="connsiteX0" fmla="*/ 0 w 7109846"/>
              <a:gd name="connsiteY0" fmla="*/ 0 h 6866467"/>
              <a:gd name="connsiteX1" fmla="*/ 1249825 w 7109846"/>
              <a:gd name="connsiteY1" fmla="*/ 0 h 6866467"/>
              <a:gd name="connsiteX2" fmla="*/ 1249825 w 7109846"/>
              <a:gd name="connsiteY2" fmla="*/ 8467 h 6866467"/>
              <a:gd name="connsiteX3" fmla="*/ 7109846 w 7109846"/>
              <a:gd name="connsiteY3" fmla="*/ 8467 h 6866467"/>
              <a:gd name="connsiteX4" fmla="*/ 7109846 w 7109846"/>
              <a:gd name="connsiteY4" fmla="*/ 6866467 h 6866467"/>
              <a:gd name="connsiteX5" fmla="*/ 1249825 w 7109846"/>
              <a:gd name="connsiteY5" fmla="*/ 6866467 h 6866467"/>
              <a:gd name="connsiteX6" fmla="*/ 1109382 w 7109846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09846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7109846" y="8467"/>
                </a:lnTo>
                <a:lnTo>
                  <a:pt x="7109846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AA7F58-EB72-AE68-AE46-1EC427F86D21}"/>
              </a:ext>
            </a:extLst>
          </p:cNvPr>
          <p:cNvSpPr txBox="1"/>
          <p:nvPr/>
        </p:nvSpPr>
        <p:spPr>
          <a:xfrm>
            <a:off x="6116084" y="609601"/>
            <a:ext cx="5511296" cy="51756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 err="1">
                <a:solidFill>
                  <a:srgbClr val="FFFFFF"/>
                </a:solidFill>
                <a:effectLst/>
              </a:rPr>
              <a:t>Процесс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разработки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информационной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системы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для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гостиницы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для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животных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включает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несколько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последовательных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этапов</a:t>
            </a:r>
            <a:r>
              <a:rPr lang="en-US" dirty="0">
                <a:solidFill>
                  <a:srgbClr val="FFFFFF"/>
                </a:solidFill>
                <a:effectLst/>
              </a:rPr>
              <a:t>, </a:t>
            </a:r>
            <a:r>
              <a:rPr lang="en-US" dirty="0" err="1">
                <a:solidFill>
                  <a:srgbClr val="FFFFFF"/>
                </a:solidFill>
                <a:effectLst/>
              </a:rPr>
              <a:t>каждый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из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которых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имеет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свою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цель</a:t>
            </a:r>
            <a:r>
              <a:rPr lang="en-US" dirty="0">
                <a:solidFill>
                  <a:srgbClr val="FFFFFF"/>
                </a:solidFill>
                <a:effectLst/>
              </a:rPr>
              <a:t>, </a:t>
            </a:r>
            <a:r>
              <a:rPr lang="en-US" dirty="0" err="1">
                <a:solidFill>
                  <a:srgbClr val="FFFFFF"/>
                </a:solidFill>
                <a:effectLst/>
              </a:rPr>
              <a:t>задачи</a:t>
            </a:r>
            <a:r>
              <a:rPr lang="en-US" dirty="0">
                <a:solidFill>
                  <a:srgbClr val="FFFFFF"/>
                </a:solidFill>
                <a:effectLst/>
              </a:rPr>
              <a:t> и </a:t>
            </a:r>
            <a:r>
              <a:rPr lang="en-US" dirty="0" err="1">
                <a:solidFill>
                  <a:srgbClr val="FFFFFF"/>
                </a:solidFill>
                <a:effectLst/>
              </a:rPr>
              <a:t>результаты</a:t>
            </a:r>
            <a:r>
              <a:rPr lang="en-US" dirty="0">
                <a:solidFill>
                  <a:srgbClr val="FFFFFF"/>
                </a:solidFill>
                <a:effectLst/>
              </a:rPr>
              <a:t>.</a:t>
            </a:r>
          </a:p>
          <a:p>
            <a:pPr marL="342900" lvl="0" indent="-3429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tabLst>
                <a:tab pos="457200" algn="l"/>
              </a:tabLst>
            </a:pPr>
            <a:r>
              <a:rPr lang="en-US" b="1" dirty="0" err="1">
                <a:solidFill>
                  <a:srgbClr val="FFFFFF"/>
                </a:solidFill>
                <a:effectLst/>
              </a:rPr>
              <a:t>Анализ</a:t>
            </a:r>
            <a:r>
              <a:rPr lang="en-US" b="1" dirty="0">
                <a:solidFill>
                  <a:srgbClr val="FFFFFF"/>
                </a:solidFill>
                <a:effectLst/>
              </a:rPr>
              <a:t> </a:t>
            </a:r>
            <a:r>
              <a:rPr lang="en-US" b="1" dirty="0" err="1">
                <a:solidFill>
                  <a:srgbClr val="FFFFFF"/>
                </a:solidFill>
                <a:effectLst/>
              </a:rPr>
              <a:t>предметной</a:t>
            </a:r>
            <a:r>
              <a:rPr lang="en-US" b="1" dirty="0">
                <a:solidFill>
                  <a:srgbClr val="FFFFFF"/>
                </a:solidFill>
                <a:effectLst/>
              </a:rPr>
              <a:t> </a:t>
            </a:r>
            <a:r>
              <a:rPr lang="en-US" b="1" dirty="0" err="1">
                <a:solidFill>
                  <a:srgbClr val="FFFFFF"/>
                </a:solidFill>
                <a:effectLst/>
              </a:rPr>
              <a:t>области</a:t>
            </a:r>
            <a:r>
              <a:rPr lang="en-US" b="1" dirty="0">
                <a:solidFill>
                  <a:srgbClr val="FFFFFF"/>
                </a:solidFill>
                <a:effectLst/>
              </a:rPr>
              <a:t> и </a:t>
            </a:r>
            <a:r>
              <a:rPr lang="en-US" b="1" dirty="0" err="1">
                <a:solidFill>
                  <a:srgbClr val="FFFFFF"/>
                </a:solidFill>
                <a:effectLst/>
              </a:rPr>
              <a:t>постановка</a:t>
            </a:r>
            <a:r>
              <a:rPr lang="en-US" b="1" dirty="0">
                <a:solidFill>
                  <a:srgbClr val="FFFFFF"/>
                </a:solidFill>
                <a:effectLst/>
              </a:rPr>
              <a:t> </a:t>
            </a:r>
            <a:r>
              <a:rPr lang="en-US" b="1" dirty="0" err="1">
                <a:solidFill>
                  <a:srgbClr val="FFFFFF"/>
                </a:solidFill>
                <a:effectLst/>
              </a:rPr>
              <a:t>требований</a:t>
            </a:r>
            <a:endParaRPr lang="en-US" dirty="0">
              <a:solidFill>
                <a:srgbClr val="FFFFFF"/>
              </a:solidFill>
              <a:effectLst/>
            </a:endParaRPr>
          </a:p>
          <a:p>
            <a:pPr marL="342900" lvl="0" indent="-3429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tabLst>
                <a:tab pos="457200" algn="l"/>
              </a:tabLst>
            </a:pPr>
            <a:r>
              <a:rPr lang="en-US" b="1" dirty="0" err="1">
                <a:solidFill>
                  <a:srgbClr val="FFFFFF"/>
                </a:solidFill>
                <a:effectLst/>
              </a:rPr>
              <a:t>Проектирование</a:t>
            </a:r>
            <a:r>
              <a:rPr lang="en-US" b="1" dirty="0">
                <a:solidFill>
                  <a:srgbClr val="FFFFFF"/>
                </a:solidFill>
                <a:effectLst/>
              </a:rPr>
              <a:t> </a:t>
            </a:r>
            <a:r>
              <a:rPr lang="en-US" b="1" dirty="0" err="1">
                <a:solidFill>
                  <a:srgbClr val="FFFFFF"/>
                </a:solidFill>
                <a:effectLst/>
              </a:rPr>
              <a:t>системы</a:t>
            </a:r>
            <a:endParaRPr lang="en-US" dirty="0">
              <a:solidFill>
                <a:srgbClr val="FFFFFF"/>
              </a:solidFill>
              <a:effectLst/>
            </a:endParaRPr>
          </a:p>
          <a:p>
            <a:pPr marL="342900" lvl="0" indent="-3429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tabLst>
                <a:tab pos="457200" algn="l"/>
              </a:tabLst>
            </a:pPr>
            <a:r>
              <a:rPr lang="en-US" b="1" dirty="0" err="1">
                <a:solidFill>
                  <a:srgbClr val="FFFFFF"/>
                </a:solidFill>
                <a:effectLst/>
              </a:rPr>
              <a:t>Выбор</a:t>
            </a:r>
            <a:r>
              <a:rPr lang="en-US" b="1" dirty="0">
                <a:solidFill>
                  <a:srgbClr val="FFFFFF"/>
                </a:solidFill>
                <a:effectLst/>
              </a:rPr>
              <a:t> </a:t>
            </a:r>
            <a:r>
              <a:rPr lang="en-US" b="1" dirty="0" err="1">
                <a:solidFill>
                  <a:srgbClr val="FFFFFF"/>
                </a:solidFill>
                <a:effectLst/>
              </a:rPr>
              <a:t>технологий</a:t>
            </a:r>
            <a:r>
              <a:rPr lang="en-US" b="1" dirty="0">
                <a:solidFill>
                  <a:srgbClr val="FFFFFF"/>
                </a:solidFill>
                <a:effectLst/>
              </a:rPr>
              <a:t> и </a:t>
            </a:r>
            <a:r>
              <a:rPr lang="en-US" b="1" dirty="0" err="1">
                <a:solidFill>
                  <a:srgbClr val="FFFFFF"/>
                </a:solidFill>
                <a:effectLst/>
              </a:rPr>
              <a:t>подготовка</a:t>
            </a:r>
            <a:r>
              <a:rPr lang="en-US" b="1" dirty="0">
                <a:solidFill>
                  <a:srgbClr val="FFFFFF"/>
                </a:solidFill>
                <a:effectLst/>
              </a:rPr>
              <a:t> </a:t>
            </a:r>
            <a:r>
              <a:rPr lang="en-US" b="1" dirty="0" err="1">
                <a:solidFill>
                  <a:srgbClr val="FFFFFF"/>
                </a:solidFill>
                <a:effectLst/>
              </a:rPr>
              <a:t>среды</a:t>
            </a:r>
            <a:r>
              <a:rPr lang="en-US" b="1" dirty="0">
                <a:solidFill>
                  <a:srgbClr val="FFFFFF"/>
                </a:solidFill>
                <a:effectLst/>
              </a:rPr>
              <a:t> </a:t>
            </a:r>
            <a:r>
              <a:rPr lang="en-US" b="1" dirty="0" err="1">
                <a:solidFill>
                  <a:srgbClr val="FFFFFF"/>
                </a:solidFill>
                <a:effectLst/>
              </a:rPr>
              <a:t>разработки</a:t>
            </a:r>
            <a:endParaRPr lang="en-US" dirty="0">
              <a:solidFill>
                <a:srgbClr val="FFFFFF"/>
              </a:solidFill>
              <a:effectLst/>
            </a:endParaRPr>
          </a:p>
          <a:p>
            <a:pPr marL="342900" lvl="0" indent="-3429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tabLst>
                <a:tab pos="457200" algn="l"/>
              </a:tabLst>
            </a:pPr>
            <a:r>
              <a:rPr lang="en-US" b="1" dirty="0" err="1">
                <a:solidFill>
                  <a:srgbClr val="FFFFFF"/>
                </a:solidFill>
                <a:effectLst/>
              </a:rPr>
              <a:t>Разработка</a:t>
            </a:r>
            <a:r>
              <a:rPr lang="en-US" b="1" dirty="0">
                <a:solidFill>
                  <a:srgbClr val="FFFFFF"/>
                </a:solidFill>
                <a:effectLst/>
              </a:rPr>
              <a:t> и </a:t>
            </a:r>
            <a:r>
              <a:rPr lang="en-US" b="1" dirty="0" err="1">
                <a:solidFill>
                  <a:srgbClr val="FFFFFF"/>
                </a:solidFill>
                <a:effectLst/>
              </a:rPr>
              <a:t>программирование</a:t>
            </a:r>
            <a:endParaRPr lang="en-US" dirty="0">
              <a:solidFill>
                <a:srgbClr val="FFFFFF"/>
              </a:solidFill>
              <a:effectLst/>
            </a:endParaRPr>
          </a:p>
          <a:p>
            <a:pPr marL="342900" lvl="0" indent="-3429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tabLst>
                <a:tab pos="457200" algn="l"/>
              </a:tabLst>
            </a:pPr>
            <a:r>
              <a:rPr lang="en-US" b="1" dirty="0" err="1">
                <a:solidFill>
                  <a:srgbClr val="FFFFFF"/>
                </a:solidFill>
                <a:effectLst/>
              </a:rPr>
              <a:t>Тестирование</a:t>
            </a:r>
            <a:r>
              <a:rPr lang="en-US" b="1" dirty="0">
                <a:solidFill>
                  <a:srgbClr val="FFFFFF"/>
                </a:solidFill>
                <a:effectLst/>
              </a:rPr>
              <a:t> и </a:t>
            </a:r>
            <a:r>
              <a:rPr lang="en-US" b="1" dirty="0" err="1">
                <a:solidFill>
                  <a:srgbClr val="FFFFFF"/>
                </a:solidFill>
                <a:effectLst/>
              </a:rPr>
              <a:t>отладка</a:t>
            </a:r>
            <a:endParaRPr lang="en-US" dirty="0">
              <a:solidFill>
                <a:srgbClr val="FFFFFF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79593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920209C-E85B-4D6F-A56F-724F5ADA8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125522E-1DFD-4F78-912B-B922A2D39D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DA72C10-FE9D-49B3-80CB-A7EE8BCB38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6E7DF470-1055-45E4-AB9D-11E42EC53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6AA35CFF-3837-4B7F-B875-718AC2E14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62F41804-A347-47E3-8BD8-BD00CF2F64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76894B81-EE9C-4546-BCFA-DD9ED2C0AD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3AF181D1-71AC-43D8-A6E1-D4C488D5DC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4132D661-917C-4D2D-8E37-8590B55D9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7969643D-8B71-434D-A235-68CB241F9D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DF15C24A-4BCF-47C0-B2FA-76A0EF3384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</p:grp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267" y="-8467"/>
            <a:ext cx="4766733" cy="6866467"/>
            <a:chOff x="7425267" y="-8467"/>
            <a:chExt cx="4766733" cy="686646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7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9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30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77719" y="0"/>
            <a:ext cx="621428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2563F89D-CCCF-168E-6638-86D5BA2928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1357274"/>
              </p:ext>
            </p:extLst>
          </p:nvPr>
        </p:nvGraphicFramePr>
        <p:xfrm>
          <a:off x="3534208" y="0"/>
          <a:ext cx="8654615" cy="6857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683132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9EA7EA7-74F5-4EE2-8E3D-1A1030825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6" name="Straight Connector 8">
              <a:extLst>
                <a:ext uri="{FF2B5EF4-FFF2-40B4-BE49-F238E27FC236}">
                  <a16:creationId xmlns:a16="http://schemas.microsoft.com/office/drawing/2014/main" id="{A5CE79B5-7EE4-424D-AD14-5DEFB61B8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96C926F-F999-44BA-8D86-9EAB51D650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23">
              <a:extLst>
                <a:ext uri="{FF2B5EF4-FFF2-40B4-BE49-F238E27FC236}">
                  <a16:creationId xmlns:a16="http://schemas.microsoft.com/office/drawing/2014/main" id="{248745E7-0AF0-48F9-8E58-2673FC5F4F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7" name="Rectangle 25">
              <a:extLst>
                <a:ext uri="{FF2B5EF4-FFF2-40B4-BE49-F238E27FC236}">
                  <a16:creationId xmlns:a16="http://schemas.microsoft.com/office/drawing/2014/main" id="{9715E81A-D2E0-4431-9370-4E4A9ECA7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34" name="Isosceles Triangle 12">
              <a:extLst>
                <a:ext uri="{FF2B5EF4-FFF2-40B4-BE49-F238E27FC236}">
                  <a16:creationId xmlns:a16="http://schemas.microsoft.com/office/drawing/2014/main" id="{CEDB37A9-282D-4DDB-85AD-B2090A825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36" name="Rectangle 27">
              <a:extLst>
                <a:ext uri="{FF2B5EF4-FFF2-40B4-BE49-F238E27FC236}">
                  <a16:creationId xmlns:a16="http://schemas.microsoft.com/office/drawing/2014/main" id="{533D5933-7F91-4F5E-BC31-42FD0E2D8D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38" name="Rectangle 28">
              <a:extLst>
                <a:ext uri="{FF2B5EF4-FFF2-40B4-BE49-F238E27FC236}">
                  <a16:creationId xmlns:a16="http://schemas.microsoft.com/office/drawing/2014/main" id="{37ADDF68-C9BE-46EA-83DE-2C07DD839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39" name="Rectangle 29">
              <a:extLst>
                <a:ext uri="{FF2B5EF4-FFF2-40B4-BE49-F238E27FC236}">
                  <a16:creationId xmlns:a16="http://schemas.microsoft.com/office/drawing/2014/main" id="{10D67396-BABD-48A8-A892-CCB5095FA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40" name="Isosceles Triangle 16">
              <a:extLst>
                <a:ext uri="{FF2B5EF4-FFF2-40B4-BE49-F238E27FC236}">
                  <a16:creationId xmlns:a16="http://schemas.microsoft.com/office/drawing/2014/main" id="{626DA82A-72C2-4DF6-9CF0-0D1F6B96B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41" name="Isosceles Triangle 17">
              <a:extLst>
                <a:ext uri="{FF2B5EF4-FFF2-40B4-BE49-F238E27FC236}">
                  <a16:creationId xmlns:a16="http://schemas.microsoft.com/office/drawing/2014/main" id="{8EE6DC63-4380-4BE0-A68A-8F01162BD1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</p:grp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6C16C40-7C29-4ACC-B851-7E08E459B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DD733AE-DD5E-4C77-8BCD-72BF12A06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42" name="Straight Connector 22">
              <a:extLst>
                <a:ext uri="{FF2B5EF4-FFF2-40B4-BE49-F238E27FC236}">
                  <a16:creationId xmlns:a16="http://schemas.microsoft.com/office/drawing/2014/main" id="{51DE90A4-932E-4370-BA07-30F43254C0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A19CA4A-B208-452A-8BE4-BC6940D33D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ectangle 23">
              <a:extLst>
                <a:ext uri="{FF2B5EF4-FFF2-40B4-BE49-F238E27FC236}">
                  <a16:creationId xmlns:a16="http://schemas.microsoft.com/office/drawing/2014/main" id="{B74F8D3E-E618-4DE3-A0CC-B4904BB5D5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99DA406-C54B-4E31-867D-FAF8DCE70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44" name="Isosceles Triangle 26">
              <a:extLst>
                <a:ext uri="{FF2B5EF4-FFF2-40B4-BE49-F238E27FC236}">
                  <a16:creationId xmlns:a16="http://schemas.microsoft.com/office/drawing/2014/main" id="{A1E16883-5140-47C4-A9AD-AD6598AC3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CD848DC-8A2A-4093-9BDD-7AF4B6A27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53" name="Rectangle 28">
              <a:extLst>
                <a:ext uri="{FF2B5EF4-FFF2-40B4-BE49-F238E27FC236}">
                  <a16:creationId xmlns:a16="http://schemas.microsoft.com/office/drawing/2014/main" id="{34635A4D-E9CE-4B78-912A-479EA451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663A5EE-5581-44F3-8F98-688755F63E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54" name="Isosceles Triangle 30">
              <a:extLst>
                <a:ext uri="{FF2B5EF4-FFF2-40B4-BE49-F238E27FC236}">
                  <a16:creationId xmlns:a16="http://schemas.microsoft.com/office/drawing/2014/main" id="{B1E84E6A-F5AE-4F4D-98F2-82FE4FCC26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DDE7DDC9-17D4-4686-833D-48F8733B4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D78CC1C-254A-4A66-0F4D-B5EFCF99DD89}"/>
              </a:ext>
            </a:extLst>
          </p:cNvPr>
          <p:cNvSpPr txBox="1"/>
          <p:nvPr/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450215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tabLst>
                <a:tab pos="457200" algn="l"/>
              </a:tabLst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Для создания информационной системы гостиницы для животных было принято решение использовать интегрированную среду разработки PyCharm. Выбор именно этой IDE обусловлен несколькими важными факторами, связанными с удобством работы, поддержкой различных языков программирования, гибкостью настройки и мощными инструментами, позволяющими эффективно разрабатывать как серверную, так и клиентскую часть системы.</a:t>
            </a:r>
          </a:p>
        </p:txBody>
      </p:sp>
    </p:spTree>
    <p:extLst>
      <p:ext uri="{BB962C8B-B14F-4D97-AF65-F5344CB8AC3E}">
        <p14:creationId xmlns:p14="http://schemas.microsoft.com/office/powerpoint/2010/main" val="18029059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44</TotalTime>
  <Words>974</Words>
  <Application>Microsoft Office PowerPoint</Application>
  <PresentationFormat>Широкоэкранный</PresentationFormat>
  <Paragraphs>67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Times New Roman</vt:lpstr>
      <vt:lpstr>Trebuchet MS</vt:lpstr>
      <vt:lpstr>Wingdings 3</vt:lpstr>
      <vt:lpstr>Аспект</vt:lpstr>
      <vt:lpstr>Дипломная работа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manamovmihail@gmail.com</dc:creator>
  <cp:lastModifiedBy>manamovmihail@gmail.com</cp:lastModifiedBy>
  <cp:revision>1</cp:revision>
  <dcterms:created xsi:type="dcterms:W3CDTF">2026-04-15T23:34:14Z</dcterms:created>
  <dcterms:modified xsi:type="dcterms:W3CDTF">2026-04-16T00:19:08Z</dcterms:modified>
</cp:coreProperties>
</file>